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90B"/>
        </a:solidFill>
      </p:bgPr>
    </p:bg>
    <p:spTree>
      <p:nvGrpSpPr>
        <p:cNvPr id="1" name=""/>
        <p:cNvGrpSpPr/>
        <p:nvPr/>
      </p:nvGrpSpPr>
      <p:grpSpPr>
        <a:xfrm>
          <a:off x="0" y="0"/>
          <a:ext cx="0" cy="0"/>
          <a:chOff x="0" y="0"/>
          <a:chExt cx="0" cy="0"/>
        </a:xfrm>
      </p:grpSpPr>
      <p:sp>
        <p:nvSpPr>
          <p:cNvPr id="2" name="Shape 0"/>
          <p:cNvSpPr/>
          <p:nvPr/>
        </p:nvSpPr>
        <p:spPr>
          <a:xfrm>
            <a:off x="530352" y="384048"/>
            <a:ext cx="64008" cy="64008"/>
          </a:xfrm>
          <a:prstGeom prst="ellipse">
            <a:avLst/>
          </a:prstGeom>
          <a:solidFill>
            <a:srgbClr val="2DD4BF"/>
          </a:solidFill>
          <a:ln/>
        </p:spPr>
      </p:sp>
      <p:sp>
        <p:nvSpPr>
          <p:cNvPr id="3" name="Text 1"/>
          <p:cNvSpPr/>
          <p:nvPr/>
        </p:nvSpPr>
        <p:spPr>
          <a:xfrm>
            <a:off x="731520" y="320040"/>
            <a:ext cx="2743200" cy="274320"/>
          </a:xfrm>
          <a:prstGeom prst="rect">
            <a:avLst/>
          </a:prstGeom>
          <a:noFill/>
          <a:ln/>
        </p:spPr>
        <p:txBody>
          <a:bodyPr wrap="square" lIns="0" tIns="0" rIns="0" bIns="0" rtlCol="0" anchor="ctr"/>
          <a:lstStyle/>
          <a:p>
            <a:pPr indent="0" marL="0">
              <a:buNone/>
            </a:pPr>
            <a:r>
              <a:rPr lang="en-US" sz="1000" b="1" spc="400" kern="0" dirty="0">
                <a:solidFill>
                  <a:srgbClr val="F2F4F7"/>
                </a:solidFill>
                <a:latin typeface="JetBrains Mono" pitchFamily="34" charset="0"/>
                <a:ea typeface="JetBrains Mono" pitchFamily="34" charset="-122"/>
                <a:cs typeface="JetBrains Mono" pitchFamily="34" charset="-120"/>
              </a:rPr>
              <a:t>SURF VIKINGS</a:t>
            </a:r>
            <a:endParaRPr lang="en-US" sz="1000" dirty="0"/>
          </a:p>
        </p:txBody>
      </p:sp>
      <p:sp>
        <p:nvSpPr>
          <p:cNvPr id="4" name="Text 2"/>
          <p:cNvSpPr/>
          <p:nvPr/>
        </p:nvSpPr>
        <p:spPr>
          <a:xfrm>
            <a:off x="7802575" y="320040"/>
            <a:ext cx="36576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 · 2026</a:t>
            </a:r>
            <a:endParaRPr lang="en-US" sz="1000" dirty="0"/>
          </a:p>
        </p:txBody>
      </p:sp>
      <p:sp>
        <p:nvSpPr>
          <p:cNvPr id="5" name="Shape 3"/>
          <p:cNvSpPr/>
          <p:nvPr/>
        </p:nvSpPr>
        <p:spPr>
          <a:xfrm>
            <a:off x="731520" y="685800"/>
            <a:ext cx="10728655" cy="0"/>
          </a:xfrm>
          <a:prstGeom prst="line">
            <a:avLst/>
          </a:prstGeom>
          <a:noFill/>
          <a:ln w="9525">
            <a:solidFill>
              <a:srgbClr val="24272E"/>
            </a:solidFill>
            <a:prstDash val="solid"/>
          </a:ln>
        </p:spPr>
      </p:sp>
      <p:sp>
        <p:nvSpPr>
          <p:cNvPr id="6" name="Text 4"/>
          <p:cNvSpPr/>
          <p:nvPr/>
        </p:nvSpPr>
        <p:spPr>
          <a:xfrm>
            <a:off x="731520" y="128016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COVER · 01</a:t>
            </a:r>
            <a:endParaRPr lang="en-US" sz="1000" dirty="0"/>
          </a:p>
        </p:txBody>
      </p:sp>
      <p:sp>
        <p:nvSpPr>
          <p:cNvPr id="7" name="Text 5"/>
          <p:cNvSpPr/>
          <p:nvPr/>
        </p:nvSpPr>
        <p:spPr>
          <a:xfrm>
            <a:off x="731520" y="1737360"/>
            <a:ext cx="6766560" cy="4114800"/>
          </a:xfrm>
          <a:prstGeom prst="rect">
            <a:avLst/>
          </a:prstGeom>
          <a:noFill/>
          <a:ln/>
        </p:spPr>
        <p:txBody>
          <a:bodyPr wrap="square" lIns="0" tIns="0" rIns="0" bIns="0" rtlCol="0" anchor="t"/>
          <a:lstStyle/>
          <a:p>
            <a:pPr indent="0" marL="0">
              <a:lnSpc>
                <a:spcPct val="95000"/>
              </a:lnSpc>
              <a:buNone/>
            </a:pPr>
            <a:r>
              <a:rPr lang="en-US" sz="5200" b="1" spc="-100" kern="0" dirty="0">
                <a:solidFill>
                  <a:srgbClr val="F2F4F7"/>
                </a:solidFill>
                <a:latin typeface="Inter" pitchFamily="34" charset="0"/>
                <a:ea typeface="Inter" pitchFamily="34" charset="-122"/>
                <a:cs typeface="Inter" pitchFamily="34" charset="-120"/>
              </a:rPr>
              <a:t>Hyper-local
NorCal surf
forecasting,
</a:t>
            </a:r>
            <a:pPr indent="0" marL="0">
              <a:lnSpc>
                <a:spcPct val="95000"/>
              </a:lnSpc>
              <a:buNone/>
            </a:pPr>
            <a:r>
              <a:rPr lang="en-US" sz="5200" b="1" spc="-100" kern="0" dirty="0">
                <a:solidFill>
                  <a:srgbClr val="2DD4BF"/>
                </a:solidFill>
                <a:latin typeface="Inter" pitchFamily="34" charset="0"/>
                <a:ea typeface="Inter" pitchFamily="34" charset="-122"/>
                <a:cs typeface="Inter" pitchFamily="34" charset="-120"/>
              </a:rPr>
              <a:t>from thesis</a:t>
            </a:r>
            <a:endParaRPr lang="en-US" sz="5200" dirty="0"/>
          </a:p>
          <a:p>
            <a:pPr indent="0" marL="0">
              <a:lnSpc>
                <a:spcPct val="95000"/>
              </a:lnSpc>
              <a:buNone/>
            </a:pPr>
            <a:r>
              <a:rPr lang="en-US" sz="5200" b="1" spc="-100" kern="0" dirty="0">
                <a:solidFill>
                  <a:srgbClr val="2DD4BF"/>
                </a:solidFill>
                <a:latin typeface="Inter" pitchFamily="34" charset="0"/>
                <a:ea typeface="Inter" pitchFamily="34" charset="-122"/>
                <a:cs typeface="Inter" pitchFamily="34" charset="-120"/>
              </a:rPr>
              <a:t>to shipped PWA.</a:t>
            </a:r>
            <a:endParaRPr lang="en-US" sz="5200" dirty="0"/>
          </a:p>
        </p:txBody>
      </p:sp>
      <p:sp>
        <p:nvSpPr>
          <p:cNvPr id="8" name="Shape 6"/>
          <p:cNvSpPr/>
          <p:nvPr/>
        </p:nvSpPr>
        <p:spPr>
          <a:xfrm>
            <a:off x="731520" y="5532120"/>
            <a:ext cx="2743200" cy="0"/>
          </a:xfrm>
          <a:prstGeom prst="line">
            <a:avLst/>
          </a:prstGeom>
          <a:noFill/>
          <a:ln w="9525">
            <a:solidFill>
              <a:srgbClr val="24272E"/>
            </a:solidFill>
            <a:prstDash val="solid"/>
          </a:ln>
        </p:spPr>
      </p:sp>
      <p:sp>
        <p:nvSpPr>
          <p:cNvPr id="9" name="Text 7"/>
          <p:cNvSpPr/>
          <p:nvPr/>
        </p:nvSpPr>
        <p:spPr>
          <a:xfrm>
            <a:off x="731520" y="5669280"/>
            <a:ext cx="3657600"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ELIEL JOHNSON</a:t>
            </a:r>
            <a:endParaRPr lang="en-US" sz="1100" dirty="0"/>
          </a:p>
        </p:txBody>
      </p:sp>
      <p:sp>
        <p:nvSpPr>
          <p:cNvPr id="10" name="Text 8"/>
          <p:cNvSpPr/>
          <p:nvPr/>
        </p:nvSpPr>
        <p:spPr>
          <a:xfrm>
            <a:off x="731520" y="5943600"/>
            <a:ext cx="5486400" cy="274320"/>
          </a:xfrm>
          <a:prstGeom prst="rect">
            <a:avLst/>
          </a:prstGeom>
          <a:noFill/>
          <a:ln/>
        </p:spPr>
        <p:txBody>
          <a:bodyPr wrap="square" lIns="0" tIns="0" rIns="0" bIns="0" rtlCol="0" anchor="ctr"/>
          <a:lstStyle/>
          <a:p>
            <a:pPr indent="0" marL="0">
              <a:buNone/>
            </a:pPr>
            <a:r>
              <a:rPr lang="en-US" sz="1100" dirty="0">
                <a:solidFill>
                  <a:srgbClr val="AFB5BF"/>
                </a:solidFill>
                <a:latin typeface="Inter" pitchFamily="34" charset="0"/>
                <a:ea typeface="Inter" pitchFamily="34" charset="-122"/>
                <a:cs typeface="Inter" pitchFamily="34" charset="-120"/>
              </a:rPr>
              <a:t>Sole designer, engineer, product lead</a:t>
            </a:r>
            <a:endParaRPr lang="en-US" sz="1100" dirty="0"/>
          </a:p>
        </p:txBody>
      </p:sp>
      <p:pic>
        <p:nvPicPr>
          <p:cNvPr id="11" name="Image 0" descr="/Users/Eliel/Projects/surfvikings/docs/screenshots/dashboard.png">    </p:cNvPr>
          <p:cNvPicPr>
            <a:picLocks noChangeAspect="1"/>
          </p:cNvPicPr>
          <p:nvPr/>
        </p:nvPicPr>
        <p:blipFill>
          <a:blip r:embed="rId1"/>
          <a:stretch>
            <a:fillRect/>
          </a:stretch>
        </p:blipFill>
        <p:spPr>
          <a:xfrm>
            <a:off x="8992583" y="1097280"/>
            <a:ext cx="2193272" cy="4754880"/>
          </a:xfrm>
          <a:prstGeom prst="rect">
            <a:avLst/>
          </a:prstGeom>
        </p:spPr>
      </p:pic>
      <p:sp>
        <p:nvSpPr>
          <p:cNvPr id="12" name="Shape 9"/>
          <p:cNvSpPr/>
          <p:nvPr/>
        </p:nvSpPr>
        <p:spPr>
          <a:xfrm>
            <a:off x="8809703" y="914400"/>
            <a:ext cx="45720" cy="5120640"/>
          </a:xfrm>
          <a:prstGeom prst="rect">
            <a:avLst/>
          </a:prstGeom>
          <a:solidFill>
            <a:srgbClr val="2DD4BF"/>
          </a:solidFill>
          <a:ln/>
        </p:spPr>
      </p:sp>
      <p:sp>
        <p:nvSpPr>
          <p:cNvPr id="13" name="Shape 10"/>
          <p:cNvSpPr/>
          <p:nvPr/>
        </p:nvSpPr>
        <p:spPr>
          <a:xfrm>
            <a:off x="731520" y="6172200"/>
            <a:ext cx="10728655" cy="0"/>
          </a:xfrm>
          <a:prstGeom prst="line">
            <a:avLst/>
          </a:prstGeom>
          <a:noFill/>
          <a:ln w="9525">
            <a:solidFill>
              <a:srgbClr val="24272E"/>
            </a:solidFill>
            <a:prstDash val="solid"/>
          </a:ln>
        </p:spPr>
      </p:sp>
      <p:sp>
        <p:nvSpPr>
          <p:cNvPr id="14" name="Text 11"/>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15" name="Text 12"/>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01 / 14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02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PROJECT SNAPSHOT · 02</a:t>
            </a:r>
            <a:endParaRPr lang="en-US" sz="1000" dirty="0"/>
          </a:p>
        </p:txBody>
      </p:sp>
      <p:sp>
        <p:nvSpPr>
          <p:cNvPr id="10" name="Text 8"/>
          <p:cNvSpPr/>
          <p:nvPr/>
        </p:nvSpPr>
        <p:spPr>
          <a:xfrm>
            <a:off x="731520" y="1463040"/>
            <a:ext cx="7315200" cy="1463040"/>
          </a:xfrm>
          <a:prstGeom prst="rect">
            <a:avLst/>
          </a:prstGeom>
          <a:noFill/>
          <a:ln/>
        </p:spPr>
        <p:txBody>
          <a:bodyPr wrap="square" lIns="0" tIns="0" rIns="0" bIns="0" rtlCol="0" anchor="t"/>
          <a:lstStyle/>
          <a:p>
            <a:pPr algn="l" indent="0" marL="0">
              <a:buNone/>
            </a:pPr>
            <a:r>
              <a:rPr lang="en-US" sz="4400" b="1" spc="-50" kern="0" dirty="0">
                <a:solidFill>
                  <a:srgbClr val="F2F4F7"/>
                </a:solidFill>
                <a:latin typeface="Inter" pitchFamily="34" charset="0"/>
                <a:ea typeface="Inter" pitchFamily="34" charset="-122"/>
                <a:cs typeface="Inter" pitchFamily="34" charset="-120"/>
              </a:rPr>
              <a:t>At a glance.</a:t>
            </a:r>
            <a:endParaRPr lang="en-US" sz="4400" dirty="0"/>
          </a:p>
        </p:txBody>
      </p:sp>
      <p:sp>
        <p:nvSpPr>
          <p:cNvPr id="11" name="Shape 9"/>
          <p:cNvSpPr/>
          <p:nvPr/>
        </p:nvSpPr>
        <p:spPr>
          <a:xfrm>
            <a:off x="731520" y="2880360"/>
            <a:ext cx="10728655" cy="0"/>
          </a:xfrm>
          <a:prstGeom prst="line">
            <a:avLst/>
          </a:prstGeom>
          <a:noFill/>
          <a:ln w="9525">
            <a:solidFill>
              <a:srgbClr val="24272E"/>
            </a:solidFill>
            <a:prstDash val="solid"/>
          </a:ln>
        </p:spPr>
      </p:sp>
      <p:sp>
        <p:nvSpPr>
          <p:cNvPr id="12" name="Text 10"/>
          <p:cNvSpPr/>
          <p:nvPr/>
        </p:nvSpPr>
        <p:spPr>
          <a:xfrm>
            <a:off x="731520" y="3017520"/>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PRODUCT</a:t>
            </a:r>
            <a:endParaRPr lang="en-US" sz="950" dirty="0"/>
          </a:p>
        </p:txBody>
      </p:sp>
      <p:sp>
        <p:nvSpPr>
          <p:cNvPr id="13" name="Text 11"/>
          <p:cNvSpPr/>
          <p:nvPr/>
        </p:nvSpPr>
        <p:spPr>
          <a:xfrm>
            <a:off x="2926080" y="3017520"/>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A progressive web app that scores 28 NorCal surf breaks hour-by-hour using free NOAA data.</a:t>
            </a:r>
            <a:endParaRPr lang="en-US" sz="1200" dirty="0"/>
          </a:p>
        </p:txBody>
      </p:sp>
      <p:sp>
        <p:nvSpPr>
          <p:cNvPr id="14" name="Shape 12"/>
          <p:cNvSpPr/>
          <p:nvPr/>
        </p:nvSpPr>
        <p:spPr>
          <a:xfrm>
            <a:off x="731520" y="3401568"/>
            <a:ext cx="10271455" cy="0"/>
          </a:xfrm>
          <a:prstGeom prst="line">
            <a:avLst/>
          </a:prstGeom>
          <a:noFill/>
          <a:ln w="9525">
            <a:solidFill>
              <a:srgbClr val="24272E"/>
            </a:solidFill>
            <a:prstDash val="solid"/>
          </a:ln>
        </p:spPr>
      </p:sp>
      <p:sp>
        <p:nvSpPr>
          <p:cNvPr id="15" name="Text 13"/>
          <p:cNvSpPr/>
          <p:nvPr/>
        </p:nvSpPr>
        <p:spPr>
          <a:xfrm>
            <a:off x="731520" y="3401568"/>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DOMAIN</a:t>
            </a:r>
            <a:endParaRPr lang="en-US" sz="950" dirty="0"/>
          </a:p>
        </p:txBody>
      </p:sp>
      <p:sp>
        <p:nvSpPr>
          <p:cNvPr id="16" name="Text 14"/>
          <p:cNvSpPr/>
          <p:nvPr/>
        </p:nvSpPr>
        <p:spPr>
          <a:xfrm>
            <a:off x="2926080" y="3401568"/>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surfvikings.com  (marketing)  ·  surfvikings.com/app  (PWA)</a:t>
            </a:r>
            <a:endParaRPr lang="en-US" sz="1200" dirty="0"/>
          </a:p>
        </p:txBody>
      </p:sp>
      <p:sp>
        <p:nvSpPr>
          <p:cNvPr id="17" name="Shape 15"/>
          <p:cNvSpPr/>
          <p:nvPr/>
        </p:nvSpPr>
        <p:spPr>
          <a:xfrm>
            <a:off x="731520" y="3785616"/>
            <a:ext cx="10271455" cy="0"/>
          </a:xfrm>
          <a:prstGeom prst="line">
            <a:avLst/>
          </a:prstGeom>
          <a:noFill/>
          <a:ln w="9525">
            <a:solidFill>
              <a:srgbClr val="24272E"/>
            </a:solidFill>
            <a:prstDash val="solid"/>
          </a:ln>
        </p:spPr>
      </p:sp>
      <p:sp>
        <p:nvSpPr>
          <p:cNvPr id="18" name="Text 16"/>
          <p:cNvSpPr/>
          <p:nvPr/>
        </p:nvSpPr>
        <p:spPr>
          <a:xfrm>
            <a:off x="731520" y="3785616"/>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ROLE</a:t>
            </a:r>
            <a:endParaRPr lang="en-US" sz="950" dirty="0"/>
          </a:p>
        </p:txBody>
      </p:sp>
      <p:sp>
        <p:nvSpPr>
          <p:cNvPr id="19" name="Text 17"/>
          <p:cNvSpPr/>
          <p:nvPr/>
        </p:nvSpPr>
        <p:spPr>
          <a:xfrm>
            <a:off x="2926080" y="3785616"/>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Sole designer, engineer, and product lead</a:t>
            </a:r>
            <a:endParaRPr lang="en-US" sz="1200" dirty="0"/>
          </a:p>
        </p:txBody>
      </p:sp>
      <p:sp>
        <p:nvSpPr>
          <p:cNvPr id="20" name="Shape 18"/>
          <p:cNvSpPr/>
          <p:nvPr/>
        </p:nvSpPr>
        <p:spPr>
          <a:xfrm>
            <a:off x="731520" y="4169664"/>
            <a:ext cx="10271455" cy="0"/>
          </a:xfrm>
          <a:prstGeom prst="line">
            <a:avLst/>
          </a:prstGeom>
          <a:noFill/>
          <a:ln w="9525">
            <a:solidFill>
              <a:srgbClr val="24272E"/>
            </a:solidFill>
            <a:prstDash val="solid"/>
          </a:ln>
        </p:spPr>
      </p:sp>
      <p:sp>
        <p:nvSpPr>
          <p:cNvPr id="21" name="Text 19"/>
          <p:cNvSpPr/>
          <p:nvPr/>
        </p:nvSpPr>
        <p:spPr>
          <a:xfrm>
            <a:off x="731520" y="4169664"/>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SURFACE AREA</a:t>
            </a:r>
            <a:endParaRPr lang="en-US" sz="950" dirty="0"/>
          </a:p>
        </p:txBody>
      </p:sp>
      <p:sp>
        <p:nvSpPr>
          <p:cNvPr id="22" name="Text 20"/>
          <p:cNvSpPr/>
          <p:nvPr/>
        </p:nvSpPr>
        <p:spPr>
          <a:xfrm>
            <a:off x="2926080" y="4169664"/>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Marketing site (Landing, Merch, Games, About) + PWA (Dashboard, Spot Detail, Forecast, Map, Settings)</a:t>
            </a:r>
            <a:endParaRPr lang="en-US" sz="1200" dirty="0"/>
          </a:p>
        </p:txBody>
      </p:sp>
      <p:sp>
        <p:nvSpPr>
          <p:cNvPr id="23" name="Shape 21"/>
          <p:cNvSpPr/>
          <p:nvPr/>
        </p:nvSpPr>
        <p:spPr>
          <a:xfrm>
            <a:off x="731520" y="4553712"/>
            <a:ext cx="10271455" cy="0"/>
          </a:xfrm>
          <a:prstGeom prst="line">
            <a:avLst/>
          </a:prstGeom>
          <a:noFill/>
          <a:ln w="9525">
            <a:solidFill>
              <a:srgbClr val="24272E"/>
            </a:solidFill>
            <a:prstDash val="solid"/>
          </a:ln>
        </p:spPr>
      </p:sp>
      <p:sp>
        <p:nvSpPr>
          <p:cNvPr id="24" name="Text 22"/>
          <p:cNvSpPr/>
          <p:nvPr/>
        </p:nvSpPr>
        <p:spPr>
          <a:xfrm>
            <a:off x="731520" y="4553712"/>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CODEBASE</a:t>
            </a:r>
            <a:endParaRPr lang="en-US" sz="950" dirty="0"/>
          </a:p>
        </p:txBody>
      </p:sp>
      <p:sp>
        <p:nvSpPr>
          <p:cNvPr id="25" name="Text 23"/>
          <p:cNvSpPr/>
          <p:nvPr/>
        </p:nvSpPr>
        <p:spPr>
          <a:xfrm>
            <a:off x="2926080" y="4553712"/>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~4,100 lines of TypeScript · 7 feature components · 5 primitives · 3 server fetchers</a:t>
            </a:r>
            <a:endParaRPr lang="en-US" sz="1200" dirty="0"/>
          </a:p>
        </p:txBody>
      </p:sp>
      <p:sp>
        <p:nvSpPr>
          <p:cNvPr id="26" name="Shape 24"/>
          <p:cNvSpPr/>
          <p:nvPr/>
        </p:nvSpPr>
        <p:spPr>
          <a:xfrm>
            <a:off x="731520" y="4937760"/>
            <a:ext cx="10271455" cy="0"/>
          </a:xfrm>
          <a:prstGeom prst="line">
            <a:avLst/>
          </a:prstGeom>
          <a:noFill/>
          <a:ln w="9525">
            <a:solidFill>
              <a:srgbClr val="24272E"/>
            </a:solidFill>
            <a:prstDash val="solid"/>
          </a:ln>
        </p:spPr>
      </p:sp>
      <p:sp>
        <p:nvSpPr>
          <p:cNvPr id="27" name="Text 25"/>
          <p:cNvSpPr/>
          <p:nvPr/>
        </p:nvSpPr>
        <p:spPr>
          <a:xfrm>
            <a:off x="731520" y="4937760"/>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STACK</a:t>
            </a:r>
            <a:endParaRPr lang="en-US" sz="950" dirty="0"/>
          </a:p>
        </p:txBody>
      </p:sp>
      <p:sp>
        <p:nvSpPr>
          <p:cNvPr id="28" name="Text 26"/>
          <p:cNvSpPr/>
          <p:nvPr/>
        </p:nvSpPr>
        <p:spPr>
          <a:xfrm>
            <a:off x="2926080" y="4937760"/>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Vite · React 18 · TS · vite-plugin-pwa · react-router-dom v7 · Playwright · Sharp · Vercel</a:t>
            </a:r>
            <a:endParaRPr lang="en-US" sz="1200" dirty="0"/>
          </a:p>
        </p:txBody>
      </p:sp>
      <p:sp>
        <p:nvSpPr>
          <p:cNvPr id="29" name="Shape 27"/>
          <p:cNvSpPr/>
          <p:nvPr/>
        </p:nvSpPr>
        <p:spPr>
          <a:xfrm>
            <a:off x="731520" y="5321808"/>
            <a:ext cx="10271455" cy="0"/>
          </a:xfrm>
          <a:prstGeom prst="line">
            <a:avLst/>
          </a:prstGeom>
          <a:noFill/>
          <a:ln w="9525">
            <a:solidFill>
              <a:srgbClr val="24272E"/>
            </a:solidFill>
            <a:prstDash val="solid"/>
          </a:ln>
        </p:spPr>
      </p:sp>
      <p:sp>
        <p:nvSpPr>
          <p:cNvPr id="30" name="Text 28"/>
          <p:cNvSpPr/>
          <p:nvPr/>
        </p:nvSpPr>
        <p:spPr>
          <a:xfrm>
            <a:off x="731520" y="5321808"/>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DATA SOURCES</a:t>
            </a:r>
            <a:endParaRPr lang="en-US" sz="950" dirty="0"/>
          </a:p>
        </p:txBody>
      </p:sp>
      <p:sp>
        <p:nvSpPr>
          <p:cNvPr id="31" name="Text 29"/>
          <p:cNvSpPr/>
          <p:nvPr/>
        </p:nvSpPr>
        <p:spPr>
          <a:xfrm>
            <a:off x="2926080" y="5321808"/>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100% free public APIs  —  NDBC buoys · Open-Meteo marine · NOAA tides</a:t>
            </a:r>
            <a:endParaRPr lang="en-US" sz="1200" dirty="0"/>
          </a:p>
        </p:txBody>
      </p:sp>
      <p:sp>
        <p:nvSpPr>
          <p:cNvPr id="32" name="Shape 30"/>
          <p:cNvSpPr/>
          <p:nvPr/>
        </p:nvSpPr>
        <p:spPr>
          <a:xfrm>
            <a:off x="731520" y="5705856"/>
            <a:ext cx="10271455" cy="0"/>
          </a:xfrm>
          <a:prstGeom prst="line">
            <a:avLst/>
          </a:prstGeom>
          <a:noFill/>
          <a:ln w="9525">
            <a:solidFill>
              <a:srgbClr val="24272E"/>
            </a:solidFill>
            <a:prstDash val="solid"/>
          </a:ln>
        </p:spPr>
      </p:sp>
      <p:sp>
        <p:nvSpPr>
          <p:cNvPr id="33" name="Text 31"/>
          <p:cNvSpPr/>
          <p:nvPr/>
        </p:nvSpPr>
        <p:spPr>
          <a:xfrm>
            <a:off x="731520" y="5705856"/>
            <a:ext cx="2103120" cy="384048"/>
          </a:xfrm>
          <a:prstGeom prst="rect">
            <a:avLst/>
          </a:prstGeom>
          <a:noFill/>
          <a:ln/>
        </p:spPr>
        <p:txBody>
          <a:bodyPr wrap="square" lIns="0" tIns="0" rIns="0" bIns="0" rtlCol="0" anchor="ctr"/>
          <a:lstStyle/>
          <a:p>
            <a:pPr indent="0" marL="0">
              <a:buNone/>
            </a:pPr>
            <a:r>
              <a:rPr lang="en-US" sz="950" spc="300" kern="0" dirty="0">
                <a:solidFill>
                  <a:srgbClr val="AFB5BF"/>
                </a:solidFill>
                <a:latin typeface="JetBrains Mono" pitchFamily="34" charset="0"/>
                <a:ea typeface="JetBrains Mono" pitchFamily="34" charset="-122"/>
                <a:cs typeface="JetBrains Mono" pitchFamily="34" charset="-120"/>
              </a:rPr>
              <a:t>STATUS</a:t>
            </a:r>
            <a:endParaRPr lang="en-US" sz="950" dirty="0"/>
          </a:p>
        </p:txBody>
      </p:sp>
      <p:sp>
        <p:nvSpPr>
          <p:cNvPr id="34" name="Text 32"/>
          <p:cNvSpPr/>
          <p:nvPr/>
        </p:nvSpPr>
        <p:spPr>
          <a:xfrm>
            <a:off x="2926080" y="5705856"/>
            <a:ext cx="6949440" cy="384048"/>
          </a:xfrm>
          <a:prstGeom prst="rect">
            <a:avLst/>
          </a:prstGeom>
          <a:noFill/>
          <a:ln/>
        </p:spPr>
        <p:txBody>
          <a:bodyPr wrap="square" lIns="0" tIns="0" rIns="0" bIns="0" rtlCol="0" anchor="ctr"/>
          <a:lstStyle/>
          <a:p>
            <a:pPr indent="0" marL="0">
              <a:buNone/>
            </a:pPr>
            <a:r>
              <a:rPr lang="en-US" sz="1200" dirty="0">
                <a:solidFill>
                  <a:srgbClr val="F2F4F7"/>
                </a:solidFill>
                <a:latin typeface="Inter" pitchFamily="34" charset="0"/>
                <a:ea typeface="Inter" pitchFamily="34" charset="-122"/>
                <a:cs typeface="Inter" pitchFamily="34" charset="-120"/>
              </a:rPr>
              <a:t>Live on custom domain, Let’s Encrypt TLS, 34 commits, installable on iOS / Android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03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THE THESIS · 03</a:t>
            </a:r>
            <a:endParaRPr lang="en-US" sz="1000" dirty="0"/>
          </a:p>
        </p:txBody>
      </p:sp>
      <p:sp>
        <p:nvSpPr>
          <p:cNvPr id="10" name="Text 8"/>
          <p:cNvSpPr/>
          <p:nvPr/>
        </p:nvSpPr>
        <p:spPr>
          <a:xfrm>
            <a:off x="731520" y="1463040"/>
            <a:ext cx="9144000" cy="1463040"/>
          </a:xfrm>
          <a:prstGeom prst="rect">
            <a:avLst/>
          </a:prstGeom>
          <a:noFill/>
          <a:ln/>
        </p:spPr>
        <p:txBody>
          <a:bodyPr wrap="square" lIns="0" tIns="0" rIns="0" bIns="0" rtlCol="0" anchor="t"/>
          <a:lstStyle/>
          <a:p>
            <a:pPr algn="l" indent="0" marL="0">
              <a:buNone/>
            </a:pPr>
            <a:r>
              <a:rPr lang="en-US" sz="4400" b="1" spc="-50" kern="0" dirty="0">
                <a:solidFill>
                  <a:srgbClr val="F2F4F7"/>
                </a:solidFill>
                <a:latin typeface="Inter" pitchFamily="34" charset="0"/>
                <a:ea typeface="Inter" pitchFamily="34" charset="-122"/>
                <a:cs typeface="Inter" pitchFamily="34" charset="-120"/>
              </a:rPr>
              <a:t>Answer the real question.</a:t>
            </a:r>
            <a:endParaRPr lang="en-US" sz="4400" dirty="0"/>
          </a:p>
        </p:txBody>
      </p:sp>
      <p:sp>
        <p:nvSpPr>
          <p:cNvPr id="11" name="Text 9"/>
          <p:cNvSpPr/>
          <p:nvPr/>
        </p:nvSpPr>
        <p:spPr>
          <a:xfrm>
            <a:off x="822960" y="2651760"/>
            <a:ext cx="731520" cy="1097280"/>
          </a:xfrm>
          <a:prstGeom prst="rect">
            <a:avLst/>
          </a:prstGeom>
          <a:noFill/>
          <a:ln/>
        </p:spPr>
        <p:txBody>
          <a:bodyPr wrap="square" lIns="0" tIns="0" rIns="0" bIns="0" rtlCol="0" anchor="t"/>
          <a:lstStyle/>
          <a:p>
            <a:pPr indent="0" marL="0">
              <a:buNone/>
            </a:pPr>
            <a:r>
              <a:rPr lang="en-US" sz="9600" b="1" dirty="0">
                <a:solidFill>
                  <a:srgbClr val="2DD4BF"/>
                </a:solidFill>
                <a:latin typeface="Inter" pitchFamily="34" charset="0"/>
                <a:ea typeface="Inter" pitchFamily="34" charset="-122"/>
                <a:cs typeface="Inter" pitchFamily="34" charset="-120"/>
              </a:rPr>
              <a:t>"</a:t>
            </a:r>
            <a:endParaRPr lang="en-US" sz="9600" dirty="0"/>
          </a:p>
        </p:txBody>
      </p:sp>
      <p:sp>
        <p:nvSpPr>
          <p:cNvPr id="12" name="Text 10"/>
          <p:cNvSpPr/>
          <p:nvPr/>
        </p:nvSpPr>
        <p:spPr>
          <a:xfrm>
            <a:off x="1371600" y="2926080"/>
            <a:ext cx="10241280" cy="2194560"/>
          </a:xfrm>
          <a:prstGeom prst="rect">
            <a:avLst/>
          </a:prstGeom>
          <a:noFill/>
          <a:ln/>
        </p:spPr>
        <p:txBody>
          <a:bodyPr wrap="square" lIns="0" tIns="0" rIns="0" bIns="0" rtlCol="0" anchor="t"/>
          <a:lstStyle/>
          <a:p>
            <a:pPr indent="0" marL="0">
              <a:lnSpc>
                <a:spcPct val="140000"/>
              </a:lnSpc>
              <a:buNone/>
            </a:pPr>
            <a:r>
              <a:rPr lang="en-US" sz="2200" dirty="0">
                <a:solidFill>
                  <a:srgbClr val="C4CAD3"/>
                </a:solidFill>
                <a:latin typeface="Inter" pitchFamily="34" charset="0"/>
                <a:ea typeface="Inter" pitchFamily="34" charset="-122"/>
                <a:cs typeface="Inter" pitchFamily="34" charset="-120"/>
              </a:rPr>
              <a:t>A NorCal surfer’s real question isn’t </a:t>
            </a:r>
            <a:pPr indent="0" marL="0">
              <a:lnSpc>
                <a:spcPct val="140000"/>
              </a:lnSpc>
              <a:buNone/>
            </a:pPr>
            <a:r>
              <a:rPr lang="en-US" sz="2200" b="1" dirty="0">
                <a:solidFill>
                  <a:srgbClr val="F2F4F7"/>
                </a:solidFill>
                <a:latin typeface="Inter" pitchFamily="34" charset="0"/>
                <a:ea typeface="Inter" pitchFamily="34" charset="-122"/>
                <a:cs typeface="Inter" pitchFamily="34" charset="-120"/>
              </a:rPr>
              <a:t>"what are the conditions?"</a:t>
            </a:r>
            <a:pPr indent="0" marL="0">
              <a:lnSpc>
                <a:spcPct val="140000"/>
              </a:lnSpc>
              <a:buNone/>
            </a:pPr>
            <a:r>
              <a:rPr lang="en-US" sz="2200" dirty="0">
                <a:solidFill>
                  <a:srgbClr val="C4CAD3"/>
                </a:solidFill>
                <a:latin typeface="Inter" pitchFamily="34" charset="0"/>
                <a:ea typeface="Inter" pitchFamily="34" charset="-122"/>
                <a:cs typeface="Inter" pitchFamily="34" charset="-120"/>
              </a:rPr>
              <a:t>  —  it’s </a:t>
            </a:r>
            <a:pPr indent="0" marL="0">
              <a:lnSpc>
                <a:spcPct val="140000"/>
              </a:lnSpc>
              <a:buNone/>
            </a:pPr>
            <a:r>
              <a:rPr lang="en-US" sz="2200" b="1" dirty="0">
                <a:solidFill>
                  <a:srgbClr val="2DD4BF"/>
                </a:solidFill>
                <a:latin typeface="Inter" pitchFamily="34" charset="0"/>
                <a:ea typeface="Inter" pitchFamily="34" charset="-122"/>
                <a:cs typeface="Inter" pitchFamily="34" charset="-120"/>
              </a:rPr>
              <a:t>"which of my six favorite breaks, at what hour in the next 48, is worth the drive?"</a:t>
            </a:r>
            <a:endParaRPr lang="en-US" sz="2200" dirty="0"/>
          </a:p>
        </p:txBody>
      </p:sp>
      <p:sp>
        <p:nvSpPr>
          <p:cNvPr id="13" name="Shape 11"/>
          <p:cNvSpPr/>
          <p:nvPr/>
        </p:nvSpPr>
        <p:spPr>
          <a:xfrm>
            <a:off x="731520" y="5394960"/>
            <a:ext cx="10728655" cy="0"/>
          </a:xfrm>
          <a:prstGeom prst="line">
            <a:avLst/>
          </a:prstGeom>
          <a:noFill/>
          <a:ln w="9525">
            <a:solidFill>
              <a:srgbClr val="24272E"/>
            </a:solidFill>
            <a:prstDash val="solid"/>
          </a:ln>
        </p:spPr>
      </p:sp>
      <p:sp>
        <p:nvSpPr>
          <p:cNvPr id="14" name="Text 12"/>
          <p:cNvSpPr/>
          <p:nvPr/>
        </p:nvSpPr>
        <p:spPr>
          <a:xfrm>
            <a:off x="731520" y="5532120"/>
            <a:ext cx="4572000" cy="274320"/>
          </a:xfrm>
          <a:prstGeom prst="rect">
            <a:avLst/>
          </a:prstGeom>
          <a:noFill/>
          <a:ln/>
        </p:spPr>
        <p:txBody>
          <a:bodyPr wrap="square" lIns="0" tIns="0" rIns="0" bIns="0" rtlCol="0" anchor="ctr"/>
          <a:lstStyle/>
          <a:p>
            <a:pPr algn="l" indent="0" marL="0">
              <a:buNone/>
            </a:pPr>
            <a:r>
              <a:rPr lang="en-US" sz="1000" spc="300" kern="0" dirty="0">
                <a:solidFill>
                  <a:srgbClr val="AFB5BF"/>
                </a:solidFill>
                <a:latin typeface="JetBrains Mono" pitchFamily="34" charset="0"/>
                <a:ea typeface="JetBrains Mono" pitchFamily="34" charset="-122"/>
                <a:cs typeface="JetBrains Mono" pitchFamily="34" charset="-120"/>
              </a:rPr>
              <a:t>PRODUCT THESIS</a:t>
            </a:r>
            <a:endParaRPr lang="en-US" sz="1000" dirty="0"/>
          </a:p>
        </p:txBody>
      </p:sp>
      <p:sp>
        <p:nvSpPr>
          <p:cNvPr id="15" name="Text 13"/>
          <p:cNvSpPr/>
          <p:nvPr/>
        </p:nvSpPr>
        <p:spPr>
          <a:xfrm>
            <a:off x="731520" y="5852160"/>
            <a:ext cx="5029200" cy="822960"/>
          </a:xfrm>
          <a:prstGeom prst="rect">
            <a:avLst/>
          </a:prstGeom>
          <a:noFill/>
          <a:ln/>
        </p:spPr>
        <p:txBody>
          <a:bodyPr wrap="square" lIns="0" tIns="0" rIns="0" bIns="0" rtlCol="0" anchor="t"/>
          <a:lstStyle/>
          <a:p>
            <a:pPr algn="l" indent="0" marL="0">
              <a:spcAft>
                <a:spcPts val="800"/>
              </a:spcAft>
              <a:buNone/>
            </a:pPr>
            <a:r>
              <a:rPr lang="en-US" sz="1100" dirty="0">
                <a:solidFill>
                  <a:srgbClr val="C4CAD3"/>
                </a:solidFill>
                <a:latin typeface="Inter" pitchFamily="34" charset="0"/>
                <a:ea typeface="Inter" pitchFamily="34" charset="-122"/>
                <a:cs typeface="Inter" pitchFamily="34" charset="-120"/>
              </a:rPr>
              <a:t>A ranked, scored, time-windowed recommendation engine built on 100% free public data, with enough local intelligence baked into the spot profiles that the answer is defensible, not just aggregated.</a:t>
            </a:r>
            <a:endParaRPr lang="en-US" sz="1100" dirty="0"/>
          </a:p>
        </p:txBody>
      </p:sp>
      <p:sp>
        <p:nvSpPr>
          <p:cNvPr id="16" name="Text 14"/>
          <p:cNvSpPr/>
          <p:nvPr/>
        </p:nvSpPr>
        <p:spPr>
          <a:xfrm>
            <a:off x="6675120" y="5532120"/>
            <a:ext cx="4572000" cy="274320"/>
          </a:xfrm>
          <a:prstGeom prst="rect">
            <a:avLst/>
          </a:prstGeom>
          <a:noFill/>
          <a:ln/>
        </p:spPr>
        <p:txBody>
          <a:bodyPr wrap="square" lIns="0" tIns="0" rIns="0" bIns="0" rtlCol="0" anchor="ctr"/>
          <a:lstStyle/>
          <a:p>
            <a:pPr algn="l" indent="0" marL="0">
              <a:buNone/>
            </a:pPr>
            <a:r>
              <a:rPr lang="en-US" sz="1000" spc="300" kern="0" dirty="0">
                <a:solidFill>
                  <a:srgbClr val="AFB5BF"/>
                </a:solidFill>
                <a:latin typeface="JetBrains Mono" pitchFamily="34" charset="0"/>
                <a:ea typeface="JetBrains Mono" pitchFamily="34" charset="-122"/>
                <a:cs typeface="JetBrains Mono" pitchFamily="34" charset="-120"/>
              </a:rPr>
              <a:t>BRAND THESIS</a:t>
            </a:r>
            <a:endParaRPr lang="en-US" sz="1000" dirty="0"/>
          </a:p>
        </p:txBody>
      </p:sp>
      <p:sp>
        <p:nvSpPr>
          <p:cNvPr id="17" name="Text 15"/>
          <p:cNvSpPr/>
          <p:nvPr/>
        </p:nvSpPr>
        <p:spPr>
          <a:xfrm>
            <a:off x="6675120" y="5852160"/>
            <a:ext cx="5029200" cy="822960"/>
          </a:xfrm>
          <a:prstGeom prst="rect">
            <a:avLst/>
          </a:prstGeom>
          <a:noFill/>
          <a:ln/>
        </p:spPr>
        <p:txBody>
          <a:bodyPr wrap="square" lIns="0" tIns="0" rIns="0" bIns="0" rtlCol="0" anchor="t"/>
          <a:lstStyle/>
          <a:p>
            <a:pPr algn="l" indent="0" marL="0">
              <a:spcAft>
                <a:spcPts val="800"/>
              </a:spcAft>
              <a:buNone/>
            </a:pPr>
            <a:r>
              <a:rPr lang="en-US" sz="1100" dirty="0">
                <a:solidFill>
                  <a:srgbClr val="C4CAD3"/>
                </a:solidFill>
                <a:latin typeface="Inter" pitchFamily="34" charset="0"/>
                <a:ea typeface="Inter" pitchFamily="34" charset="-122"/>
                <a:cs typeface="Inter" pitchFamily="34" charset="-120"/>
              </a:rPr>
              <a:t>The Norse didn’t wait for perfect conditions. They read the water and went. The app is for surfers who think the same way: committed, local, always looking for the next session.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04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01 · FORECAST ENGINE</a:t>
            </a:r>
            <a:endParaRPr lang="en-US" sz="1000" dirty="0"/>
          </a:p>
        </p:txBody>
      </p:sp>
      <p:sp>
        <p:nvSpPr>
          <p:cNvPr id="10" name="Text 8"/>
          <p:cNvSpPr/>
          <p:nvPr/>
        </p:nvSpPr>
        <p:spPr>
          <a:xfrm>
            <a:off x="731520" y="1463040"/>
            <a:ext cx="7315200" cy="2011680"/>
          </a:xfrm>
          <a:prstGeom prst="rect">
            <a:avLst/>
          </a:prstGeom>
          <a:noFill/>
          <a:ln/>
        </p:spPr>
        <p:txBody>
          <a:bodyPr wrap="square" lIns="0" tIns="0" rIns="0" bIns="0" rtlCol="0" anchor="t"/>
          <a:lstStyle/>
          <a:p>
            <a:pPr algn="l" indent="0" marL="0">
              <a:buNone/>
            </a:pPr>
            <a:r>
              <a:rPr lang="en-US" sz="4000" b="1" spc="-50" kern="0" dirty="0">
                <a:solidFill>
                  <a:srgbClr val="F2F4F7"/>
                </a:solidFill>
                <a:latin typeface="Inter" pitchFamily="34" charset="0"/>
                <a:ea typeface="Inter" pitchFamily="34" charset="-122"/>
                <a:cs typeface="Inter" pitchFamily="34" charset="-120"/>
              </a:rPr>
              <a:t>Model the domain</a:t>
            </a:r>
            <a:endParaRPr lang="en-US" sz="4000" dirty="0"/>
          </a:p>
          <a:p>
            <a:pPr algn="l" indent="0" marL="0">
              <a:buNone/>
            </a:pPr>
            <a:r>
              <a:rPr lang="en-US" sz="4000" b="1" spc="-50" kern="0" dirty="0">
                <a:solidFill>
                  <a:srgbClr val="F2F4F7"/>
                </a:solidFill>
                <a:latin typeface="Inter" pitchFamily="34" charset="0"/>
                <a:ea typeface="Inter" pitchFamily="34" charset="-122"/>
                <a:cs typeface="Inter" pitchFamily="34" charset="-120"/>
              </a:rPr>
              <a:t>before writing the UI.</a:t>
            </a:r>
            <a:endParaRPr lang="en-US" sz="4000" dirty="0"/>
          </a:p>
        </p:txBody>
      </p:sp>
      <p:sp>
        <p:nvSpPr>
          <p:cNvPr id="11" name="Text 9"/>
          <p:cNvSpPr/>
          <p:nvPr/>
        </p:nvSpPr>
        <p:spPr>
          <a:xfrm>
            <a:off x="731520" y="3474720"/>
            <a:ext cx="6583680" cy="100584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The work started with a PRD that defined six coastal regions (Sonoma to Santa Cruz), mapped each to a primary NDBC buoy and NOAA tide station, and spec’d a scoring algorithm weighted by swell height, period, direction, wind speed, wind direction, and tide height against per-spot optimal parameters.</a:t>
            </a:r>
            <a:endParaRPr lang="en-US" sz="1400" dirty="0"/>
          </a:p>
        </p:txBody>
      </p:sp>
      <p:sp>
        <p:nvSpPr>
          <p:cNvPr id="12" name="Text 10"/>
          <p:cNvSpPr/>
          <p:nvPr/>
        </p:nvSpPr>
        <p:spPr>
          <a:xfrm>
            <a:off x="731520" y="4572000"/>
            <a:ext cx="6583680" cy="109728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The Spot type carries 12 fields per break including optimalSwell, offshore, tidal range preference, skill floor, and swell shadowing coefficients. The scoring engine (computeScore) is pure, deterministic, and testable: it takes a Spot and ForecastHour and returns a 0-100 score with per-factor breakdown.</a:t>
            </a:r>
            <a:endParaRPr lang="en-US" sz="1400" dirty="0"/>
          </a:p>
        </p:txBody>
      </p:sp>
      <p:sp>
        <p:nvSpPr>
          <p:cNvPr id="13" name="Shape 11"/>
          <p:cNvSpPr/>
          <p:nvPr/>
        </p:nvSpPr>
        <p:spPr>
          <a:xfrm>
            <a:off x="7772400" y="1828800"/>
            <a:ext cx="3657600" cy="3931920"/>
          </a:xfrm>
          <a:prstGeom prst="rect">
            <a:avLst/>
          </a:prstGeom>
          <a:solidFill>
            <a:srgbClr val="111317"/>
          </a:solidFill>
          <a:ln w="9525">
            <a:solidFill>
              <a:srgbClr val="24272E"/>
            </a:solidFill>
            <a:prstDash val="solid"/>
          </a:ln>
        </p:spPr>
      </p:sp>
      <p:sp>
        <p:nvSpPr>
          <p:cNvPr id="14" name="Shape 12"/>
          <p:cNvSpPr/>
          <p:nvPr/>
        </p:nvSpPr>
        <p:spPr>
          <a:xfrm>
            <a:off x="7772400" y="1828800"/>
            <a:ext cx="3657600" cy="27432"/>
          </a:xfrm>
          <a:prstGeom prst="rect">
            <a:avLst/>
          </a:prstGeom>
          <a:solidFill>
            <a:srgbClr val="2DD4BF"/>
          </a:solidFill>
          <a:ln/>
        </p:spPr>
      </p:sp>
      <p:sp>
        <p:nvSpPr>
          <p:cNvPr id="15" name="Text 13"/>
          <p:cNvSpPr/>
          <p:nvPr/>
        </p:nvSpPr>
        <p:spPr>
          <a:xfrm>
            <a:off x="8001000" y="1993392"/>
            <a:ext cx="3200400" cy="27432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src/lib/data.ts</a:t>
            </a:r>
            <a:endParaRPr lang="en-US" sz="900" dirty="0"/>
          </a:p>
        </p:txBody>
      </p:sp>
      <p:sp>
        <p:nvSpPr>
          <p:cNvPr id="16" name="Text 14"/>
          <p:cNvSpPr/>
          <p:nvPr/>
        </p:nvSpPr>
        <p:spPr>
          <a:xfrm>
            <a:off x="8001000" y="2377440"/>
            <a:ext cx="3200400" cy="3200400"/>
          </a:xfrm>
          <a:prstGeom prst="rect">
            <a:avLst/>
          </a:prstGeom>
          <a:noFill/>
          <a:ln/>
        </p:spPr>
        <p:txBody>
          <a:bodyPr wrap="square" lIns="0" tIns="0" rIns="0" bIns="0" rtlCol="0" anchor="t"/>
          <a:lstStyle/>
          <a:p>
            <a:pPr indent="0" marL="0">
              <a:lnSpc>
                <a:spcPct val="125000"/>
              </a:lnSpc>
              <a:buNone/>
            </a:pPr>
            <a:r>
              <a:rPr lang="en-US" sz="1100" dirty="0">
                <a:solidFill>
                  <a:srgbClr val="3FB8FF"/>
                </a:solidFill>
                <a:latin typeface="JetBrains Mono" pitchFamily="34" charset="0"/>
                <a:ea typeface="JetBrains Mono" pitchFamily="34" charset="-122"/>
                <a:cs typeface="JetBrains Mono" pitchFamily="34" charset="-120"/>
              </a:rPr>
              <a:t>interface Spot {</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id: string</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name: string</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region: Region</a:t>
            </a:r>
            <a:endParaRPr lang="en-US" sz="1100" dirty="0"/>
          </a:p>
          <a:p>
            <a:pPr indent="0" marL="0">
              <a:lnSpc>
                <a:spcPct val="125000"/>
              </a:lnSpc>
              <a:buNone/>
            </a:pPr>
            <a:r>
              <a:rPr lang="en-US" sz="1100" dirty="0">
                <a:solidFill>
                  <a:srgbClr val="2DD4BF"/>
                </a:solidFill>
                <a:latin typeface="JetBrains Mono" pitchFamily="34" charset="0"/>
                <a:ea typeface="JetBrains Mono" pitchFamily="34" charset="-122"/>
                <a:cs typeface="JetBrains Mono" pitchFamily="34" charset="-120"/>
              </a:rPr>
              <a:t>  optimalSwell: number</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swellTolerance: number</a:t>
            </a:r>
            <a:endParaRPr lang="en-US" sz="1100" dirty="0"/>
          </a:p>
          <a:p>
            <a:pPr indent="0" marL="0">
              <a:lnSpc>
                <a:spcPct val="125000"/>
              </a:lnSpc>
              <a:buNone/>
            </a:pPr>
            <a:r>
              <a:rPr lang="en-US" sz="1100" dirty="0">
                <a:solidFill>
                  <a:srgbClr val="2DD4BF"/>
                </a:solidFill>
                <a:latin typeface="JetBrains Mono" pitchFamily="34" charset="0"/>
                <a:ea typeface="JetBrains Mono" pitchFamily="34" charset="-122"/>
                <a:cs typeface="JetBrains Mono" pitchFamily="34" charset="-120"/>
              </a:rPr>
              <a:t>  offshore: number</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optimalPeriod: number</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tidalPreference: Tide</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buoyId: string</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tideStation: string</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skillFloor: 1 | 2 | 3 | 4</a:t>
            </a:r>
            <a:endParaRPr lang="en-US" sz="1100" dirty="0"/>
          </a:p>
          <a:p>
            <a:pPr indent="0" marL="0">
              <a:lnSpc>
                <a:spcPct val="125000"/>
              </a:lnSpc>
              <a:buNone/>
            </a:pPr>
            <a:r>
              <a:rPr lang="en-US" sz="1100" dirty="0">
                <a:solidFill>
                  <a:srgbClr val="C4CAD3"/>
                </a:solidFill>
                <a:latin typeface="JetBrains Mono" pitchFamily="34" charset="0"/>
                <a:ea typeface="JetBrains Mono" pitchFamily="34" charset="-122"/>
                <a:cs typeface="JetBrains Mono" pitchFamily="34" charset="-120"/>
              </a:rPr>
              <a:t>  shadowing: number</a:t>
            </a:r>
            <a:endParaRPr lang="en-US" sz="1100" dirty="0"/>
          </a:p>
          <a:p>
            <a:pPr indent="0" marL="0">
              <a:lnSpc>
                <a:spcPct val="125000"/>
              </a:lnSpc>
              <a:buNone/>
            </a:pPr>
            <a:r>
              <a:rPr lang="en-US" sz="1100" dirty="0">
                <a:solidFill>
                  <a:srgbClr val="3FB8FF"/>
                </a:solidFill>
                <a:latin typeface="JetBrains Mono" pitchFamily="34" charset="0"/>
                <a:ea typeface="JetBrains Mono" pitchFamily="34" charset="-122"/>
                <a:cs typeface="JetBrains Mono" pitchFamily="34" charset="-120"/>
              </a:rPr>
              <a:t>}</a:t>
            </a:r>
            <a:endParaRPr lang="en-US" sz="1100" dirty="0"/>
          </a:p>
        </p:txBody>
      </p:sp>
      <p:sp>
        <p:nvSpPr>
          <p:cNvPr id="17" name="Shape 15"/>
          <p:cNvSpPr/>
          <p:nvPr/>
        </p:nvSpPr>
        <p:spPr>
          <a:xfrm>
            <a:off x="731520" y="5715000"/>
            <a:ext cx="10728655" cy="0"/>
          </a:xfrm>
          <a:prstGeom prst="line">
            <a:avLst/>
          </a:prstGeom>
          <a:noFill/>
          <a:ln w="9525">
            <a:solidFill>
              <a:srgbClr val="24272E"/>
            </a:solidFill>
            <a:prstDash val="solid"/>
          </a:ln>
        </p:spPr>
      </p:sp>
      <p:sp>
        <p:nvSpPr>
          <p:cNvPr id="18" name="Text 16"/>
          <p:cNvSpPr/>
          <p:nvPr/>
        </p:nvSpPr>
        <p:spPr>
          <a:xfrm>
            <a:off x="731520" y="5779008"/>
            <a:ext cx="2682164" cy="274320"/>
          </a:xfrm>
          <a:prstGeom prst="rect">
            <a:avLst/>
          </a:prstGeom>
          <a:noFill/>
          <a:ln/>
        </p:spPr>
        <p:txBody>
          <a:bodyPr wrap="square" lIns="0" tIns="0" rIns="0" bIns="0" rtlCol="0" anchor="ctr"/>
          <a:lstStyle/>
          <a:p>
            <a:pPr indent="0" marL="0">
              <a:buNone/>
            </a:pPr>
            <a:r>
              <a:rPr lang="en-US" sz="1700" b="1" dirty="0">
                <a:solidFill>
                  <a:srgbClr val="2DD4BF"/>
                </a:solidFill>
                <a:latin typeface="JetBrains Mono" pitchFamily="34" charset="0"/>
                <a:ea typeface="JetBrains Mono" pitchFamily="34" charset="-122"/>
                <a:cs typeface="JetBrains Mono" pitchFamily="34" charset="-120"/>
              </a:rPr>
              <a:t>28</a:t>
            </a:r>
            <a:endParaRPr lang="en-US" sz="1700" dirty="0"/>
          </a:p>
        </p:txBody>
      </p:sp>
      <p:sp>
        <p:nvSpPr>
          <p:cNvPr id="19" name="Text 17"/>
          <p:cNvSpPr/>
          <p:nvPr/>
        </p:nvSpPr>
        <p:spPr>
          <a:xfrm>
            <a:off x="1234440" y="5806440"/>
            <a:ext cx="2133524" cy="27432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spots modeled</a:t>
            </a:r>
            <a:endParaRPr lang="en-US" sz="900" dirty="0"/>
          </a:p>
        </p:txBody>
      </p:sp>
      <p:sp>
        <p:nvSpPr>
          <p:cNvPr id="20" name="Text 18"/>
          <p:cNvSpPr/>
          <p:nvPr/>
        </p:nvSpPr>
        <p:spPr>
          <a:xfrm>
            <a:off x="3413684" y="5779008"/>
            <a:ext cx="2682164" cy="274320"/>
          </a:xfrm>
          <a:prstGeom prst="rect">
            <a:avLst/>
          </a:prstGeom>
          <a:noFill/>
          <a:ln/>
        </p:spPr>
        <p:txBody>
          <a:bodyPr wrap="square" lIns="0" tIns="0" rIns="0" bIns="0" rtlCol="0" anchor="ctr"/>
          <a:lstStyle/>
          <a:p>
            <a:pPr indent="0" marL="0">
              <a:buNone/>
            </a:pPr>
            <a:r>
              <a:rPr lang="en-US" sz="1700" b="1" dirty="0">
                <a:solidFill>
                  <a:srgbClr val="2DD4BF"/>
                </a:solidFill>
                <a:latin typeface="JetBrains Mono" pitchFamily="34" charset="0"/>
                <a:ea typeface="JetBrains Mono" pitchFamily="34" charset="-122"/>
                <a:cs typeface="JetBrains Mono" pitchFamily="34" charset="-120"/>
              </a:rPr>
              <a:t>6</a:t>
            </a:r>
            <a:endParaRPr lang="en-US" sz="1700" dirty="0"/>
          </a:p>
        </p:txBody>
      </p:sp>
      <p:sp>
        <p:nvSpPr>
          <p:cNvPr id="21" name="Text 19"/>
          <p:cNvSpPr/>
          <p:nvPr/>
        </p:nvSpPr>
        <p:spPr>
          <a:xfrm>
            <a:off x="3916604" y="5806440"/>
            <a:ext cx="2133524" cy="27432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coastal regions</a:t>
            </a:r>
            <a:endParaRPr lang="en-US" sz="900" dirty="0"/>
          </a:p>
        </p:txBody>
      </p:sp>
      <p:sp>
        <p:nvSpPr>
          <p:cNvPr id="22" name="Text 20"/>
          <p:cNvSpPr/>
          <p:nvPr/>
        </p:nvSpPr>
        <p:spPr>
          <a:xfrm>
            <a:off x="6095848" y="5779008"/>
            <a:ext cx="2682164" cy="274320"/>
          </a:xfrm>
          <a:prstGeom prst="rect">
            <a:avLst/>
          </a:prstGeom>
          <a:noFill/>
          <a:ln/>
        </p:spPr>
        <p:txBody>
          <a:bodyPr wrap="square" lIns="0" tIns="0" rIns="0" bIns="0" rtlCol="0" anchor="ctr"/>
          <a:lstStyle/>
          <a:p>
            <a:pPr indent="0" marL="0">
              <a:buNone/>
            </a:pPr>
            <a:r>
              <a:rPr lang="en-US" sz="1700" b="1" dirty="0">
                <a:solidFill>
                  <a:srgbClr val="2DD4BF"/>
                </a:solidFill>
                <a:latin typeface="JetBrains Mono" pitchFamily="34" charset="0"/>
                <a:ea typeface="JetBrains Mono" pitchFamily="34" charset="-122"/>
                <a:cs typeface="JetBrains Mono" pitchFamily="34" charset="-120"/>
              </a:rPr>
              <a:t>48h</a:t>
            </a:r>
            <a:endParaRPr lang="en-US" sz="1700" dirty="0"/>
          </a:p>
        </p:txBody>
      </p:sp>
      <p:sp>
        <p:nvSpPr>
          <p:cNvPr id="23" name="Text 21"/>
          <p:cNvSpPr/>
          <p:nvPr/>
        </p:nvSpPr>
        <p:spPr>
          <a:xfrm>
            <a:off x="6598768" y="5806440"/>
            <a:ext cx="2133524" cy="27432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forecast horizon</a:t>
            </a:r>
            <a:endParaRPr lang="en-US" sz="900" dirty="0"/>
          </a:p>
        </p:txBody>
      </p:sp>
      <p:sp>
        <p:nvSpPr>
          <p:cNvPr id="24" name="Text 22"/>
          <p:cNvSpPr/>
          <p:nvPr/>
        </p:nvSpPr>
        <p:spPr>
          <a:xfrm>
            <a:off x="8778011" y="5779008"/>
            <a:ext cx="2682164" cy="274320"/>
          </a:xfrm>
          <a:prstGeom prst="rect">
            <a:avLst/>
          </a:prstGeom>
          <a:noFill/>
          <a:ln/>
        </p:spPr>
        <p:txBody>
          <a:bodyPr wrap="square" lIns="0" tIns="0" rIns="0" bIns="0" rtlCol="0" anchor="ctr"/>
          <a:lstStyle/>
          <a:p>
            <a:pPr indent="0" marL="0">
              <a:buNone/>
            </a:pPr>
            <a:r>
              <a:rPr lang="en-US" sz="1700" b="1" dirty="0">
                <a:solidFill>
                  <a:srgbClr val="2DD4BF"/>
                </a:solidFill>
                <a:latin typeface="JetBrains Mono" pitchFamily="34" charset="0"/>
                <a:ea typeface="JetBrains Mono" pitchFamily="34" charset="-122"/>
                <a:cs typeface="JetBrains Mono" pitchFamily="34" charset="-120"/>
              </a:rPr>
              <a:t>0</a:t>
            </a:r>
            <a:endParaRPr lang="en-US" sz="1700" dirty="0"/>
          </a:p>
        </p:txBody>
      </p:sp>
      <p:sp>
        <p:nvSpPr>
          <p:cNvPr id="25" name="Text 23"/>
          <p:cNvSpPr/>
          <p:nvPr/>
        </p:nvSpPr>
        <p:spPr>
          <a:xfrm>
            <a:off x="9280931" y="5806440"/>
            <a:ext cx="2133524" cy="27432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non-free data sources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05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02 · LIVE DATA</a:t>
            </a:r>
            <a:endParaRPr lang="en-US" sz="1000" dirty="0"/>
          </a:p>
        </p:txBody>
      </p:sp>
      <p:sp>
        <p:nvSpPr>
          <p:cNvPr id="10" name="Text 8"/>
          <p:cNvSpPr/>
          <p:nvPr/>
        </p:nvSpPr>
        <p:spPr>
          <a:xfrm>
            <a:off x="731520" y="1463040"/>
            <a:ext cx="6858000" cy="1828800"/>
          </a:xfrm>
          <a:prstGeom prst="rect">
            <a:avLst/>
          </a:prstGeom>
          <a:noFill/>
          <a:ln/>
        </p:spPr>
        <p:txBody>
          <a:bodyPr wrap="square" lIns="0" tIns="0" rIns="0" bIns="0" rtlCol="0" anchor="t"/>
          <a:lstStyle/>
          <a:p>
            <a:pPr algn="l" indent="0" marL="0">
              <a:buNone/>
            </a:pPr>
            <a:r>
              <a:rPr lang="en-US" sz="3800" b="1" spc="-50" kern="0" dirty="0">
                <a:solidFill>
                  <a:srgbClr val="F2F4F7"/>
                </a:solidFill>
                <a:latin typeface="Inter" pitchFamily="34" charset="0"/>
                <a:ea typeface="Inter" pitchFamily="34" charset="-122"/>
                <a:cs typeface="Inter" pitchFamily="34" charset="-120"/>
              </a:rPr>
              <a:t>Graceful degradation</a:t>
            </a:r>
            <a:endParaRPr lang="en-US" sz="3800" dirty="0"/>
          </a:p>
          <a:p>
            <a:pPr algn="l" indent="0" marL="0">
              <a:buNone/>
            </a:pPr>
            <a:r>
              <a:rPr lang="en-US" sz="3800" b="1" spc="-50" kern="0" dirty="0">
                <a:solidFill>
                  <a:srgbClr val="F2F4F7"/>
                </a:solidFill>
                <a:latin typeface="Inter" pitchFamily="34" charset="0"/>
                <a:ea typeface="Inter" pitchFamily="34" charset="-122"/>
                <a:cs typeface="Inter" pitchFamily="34" charset="-120"/>
              </a:rPr>
              <a:t>by default.</a:t>
            </a:r>
            <a:endParaRPr lang="en-US" sz="3800" dirty="0"/>
          </a:p>
        </p:txBody>
      </p:sp>
      <p:sp>
        <p:nvSpPr>
          <p:cNvPr id="11" name="Text 9"/>
          <p:cNvSpPr/>
          <p:nvPr/>
        </p:nvSpPr>
        <p:spPr>
          <a:xfrm>
            <a:off x="731520" y="3383280"/>
            <a:ext cx="6583680" cy="128016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Replaced mock data with real NDBC buoy feeds, Open-Meteo marine forecasts, and NOAA tide predictions. Built a three-state renderer: cached -&gt; mock -&gt; stale. The UI is never empty, never throws, and never leaves the user staring at a spinner.</a:t>
            </a:r>
            <a:endParaRPr lang="en-US" sz="1400" dirty="0"/>
          </a:p>
        </p:txBody>
      </p:sp>
      <p:sp>
        <p:nvSpPr>
          <p:cNvPr id="12" name="Shape 10"/>
          <p:cNvSpPr/>
          <p:nvPr/>
        </p:nvSpPr>
        <p:spPr>
          <a:xfrm>
            <a:off x="731520" y="4846320"/>
            <a:ext cx="91440" cy="91440"/>
          </a:xfrm>
          <a:prstGeom prst="ellipse">
            <a:avLst/>
          </a:prstGeom>
          <a:solidFill>
            <a:srgbClr val="7EE787"/>
          </a:solidFill>
          <a:ln/>
        </p:spPr>
      </p:sp>
      <p:sp>
        <p:nvSpPr>
          <p:cNvPr id="13" name="Text 11"/>
          <p:cNvSpPr/>
          <p:nvPr/>
        </p:nvSpPr>
        <p:spPr>
          <a:xfrm>
            <a:off x="1005840" y="4754880"/>
            <a:ext cx="1005840" cy="274320"/>
          </a:xfrm>
          <a:prstGeom prst="rect">
            <a:avLst/>
          </a:prstGeom>
          <a:noFill/>
          <a:ln/>
        </p:spPr>
        <p:txBody>
          <a:bodyPr wrap="square" lIns="0" tIns="0" rIns="0" bIns="0" rtlCol="0" anchor="ctr"/>
          <a:lstStyle/>
          <a:p>
            <a:pPr indent="0" marL="0">
              <a:buNone/>
            </a:pPr>
            <a:r>
              <a:rPr lang="en-US" sz="1000" b="1" spc="300" kern="0" dirty="0">
                <a:solidFill>
                  <a:srgbClr val="7EE787"/>
                </a:solidFill>
                <a:latin typeface="JetBrains Mono" pitchFamily="34" charset="0"/>
                <a:ea typeface="JetBrains Mono" pitchFamily="34" charset="-122"/>
                <a:cs typeface="JetBrains Mono" pitchFamily="34" charset="-120"/>
              </a:rPr>
              <a:t>CACHED</a:t>
            </a:r>
            <a:endParaRPr lang="en-US" sz="1000" dirty="0"/>
          </a:p>
        </p:txBody>
      </p:sp>
      <p:sp>
        <p:nvSpPr>
          <p:cNvPr id="14" name="Text 12"/>
          <p:cNvSpPr/>
          <p:nvPr/>
        </p:nvSpPr>
        <p:spPr>
          <a:xfrm>
            <a:off x="2103120" y="4754880"/>
            <a:ext cx="5303520" cy="274320"/>
          </a:xfrm>
          <a:prstGeom prst="rect">
            <a:avLst/>
          </a:prstGeom>
          <a:noFill/>
          <a:ln/>
        </p:spPr>
        <p:txBody>
          <a:bodyPr wrap="square" lIns="0" tIns="0" rIns="0" bIns="0" rtlCol="0" anchor="ctr"/>
          <a:lstStyle/>
          <a:p>
            <a:pPr indent="0" marL="0">
              <a:buNone/>
            </a:pPr>
            <a:r>
              <a:rPr lang="en-US" sz="1200" dirty="0">
                <a:solidFill>
                  <a:srgbClr val="C4CAD3"/>
                </a:solidFill>
                <a:latin typeface="Inter" pitchFamily="34" charset="0"/>
                <a:ea typeface="Inter" pitchFamily="34" charset="-122"/>
                <a:cs typeface="Inter" pitchFamily="34" charset="-120"/>
              </a:rPr>
              <a:t>Serve from in-memory cache if fresh (&lt;10 min)</a:t>
            </a:r>
            <a:endParaRPr lang="en-US" sz="1200" dirty="0"/>
          </a:p>
        </p:txBody>
      </p:sp>
      <p:sp>
        <p:nvSpPr>
          <p:cNvPr id="15" name="Shape 13"/>
          <p:cNvSpPr/>
          <p:nvPr/>
        </p:nvSpPr>
        <p:spPr>
          <a:xfrm>
            <a:off x="731520" y="5166360"/>
            <a:ext cx="91440" cy="91440"/>
          </a:xfrm>
          <a:prstGeom prst="ellipse">
            <a:avLst/>
          </a:prstGeom>
          <a:solidFill>
            <a:srgbClr val="2DD4BF"/>
          </a:solidFill>
          <a:ln/>
        </p:spPr>
      </p:sp>
      <p:sp>
        <p:nvSpPr>
          <p:cNvPr id="16" name="Text 14"/>
          <p:cNvSpPr/>
          <p:nvPr/>
        </p:nvSpPr>
        <p:spPr>
          <a:xfrm>
            <a:off x="1005840" y="5074920"/>
            <a:ext cx="100584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JetBrains Mono" pitchFamily="34" charset="0"/>
                <a:ea typeface="JetBrains Mono" pitchFamily="34" charset="-122"/>
                <a:cs typeface="JetBrains Mono" pitchFamily="34" charset="-120"/>
              </a:rPr>
              <a:t>MOCK</a:t>
            </a:r>
            <a:endParaRPr lang="en-US" sz="1000" dirty="0"/>
          </a:p>
        </p:txBody>
      </p:sp>
      <p:sp>
        <p:nvSpPr>
          <p:cNvPr id="17" name="Text 15"/>
          <p:cNvSpPr/>
          <p:nvPr/>
        </p:nvSpPr>
        <p:spPr>
          <a:xfrm>
            <a:off x="2103120" y="5074920"/>
            <a:ext cx="5303520" cy="274320"/>
          </a:xfrm>
          <a:prstGeom prst="rect">
            <a:avLst/>
          </a:prstGeom>
          <a:noFill/>
          <a:ln/>
        </p:spPr>
        <p:txBody>
          <a:bodyPr wrap="square" lIns="0" tIns="0" rIns="0" bIns="0" rtlCol="0" anchor="ctr"/>
          <a:lstStyle/>
          <a:p>
            <a:pPr indent="0" marL="0">
              <a:buNone/>
            </a:pPr>
            <a:r>
              <a:rPr lang="en-US" sz="1200" dirty="0">
                <a:solidFill>
                  <a:srgbClr val="C4CAD3"/>
                </a:solidFill>
                <a:latin typeface="Inter" pitchFamily="34" charset="0"/>
                <a:ea typeface="Inter" pitchFamily="34" charset="-122"/>
                <a:cs typeface="Inter" pitchFamily="34" charset="-120"/>
              </a:rPr>
              <a:t>Render synthetic timeline while live fetch resolves</a:t>
            </a:r>
            <a:endParaRPr lang="en-US" sz="1200" dirty="0"/>
          </a:p>
        </p:txBody>
      </p:sp>
      <p:sp>
        <p:nvSpPr>
          <p:cNvPr id="18" name="Shape 16"/>
          <p:cNvSpPr/>
          <p:nvPr/>
        </p:nvSpPr>
        <p:spPr>
          <a:xfrm>
            <a:off x="731520" y="5486400"/>
            <a:ext cx="91440" cy="91440"/>
          </a:xfrm>
          <a:prstGeom prst="ellipse">
            <a:avLst/>
          </a:prstGeom>
          <a:solidFill>
            <a:srgbClr val="F5A524"/>
          </a:solidFill>
          <a:ln/>
        </p:spPr>
      </p:sp>
      <p:sp>
        <p:nvSpPr>
          <p:cNvPr id="19" name="Text 17"/>
          <p:cNvSpPr/>
          <p:nvPr/>
        </p:nvSpPr>
        <p:spPr>
          <a:xfrm>
            <a:off x="1005840" y="5394960"/>
            <a:ext cx="1005840" cy="274320"/>
          </a:xfrm>
          <a:prstGeom prst="rect">
            <a:avLst/>
          </a:prstGeom>
          <a:noFill/>
          <a:ln/>
        </p:spPr>
        <p:txBody>
          <a:bodyPr wrap="square" lIns="0" tIns="0" rIns="0" bIns="0" rtlCol="0" anchor="ctr"/>
          <a:lstStyle/>
          <a:p>
            <a:pPr indent="0" marL="0">
              <a:buNone/>
            </a:pPr>
            <a:r>
              <a:rPr lang="en-US" sz="1000" b="1" spc="300" kern="0" dirty="0">
                <a:solidFill>
                  <a:srgbClr val="F5A524"/>
                </a:solidFill>
                <a:latin typeface="JetBrains Mono" pitchFamily="34" charset="0"/>
                <a:ea typeface="JetBrains Mono" pitchFamily="34" charset="-122"/>
                <a:cs typeface="JetBrains Mono" pitchFamily="34" charset="-120"/>
              </a:rPr>
              <a:t>STALE</a:t>
            </a:r>
            <a:endParaRPr lang="en-US" sz="1000" dirty="0"/>
          </a:p>
        </p:txBody>
      </p:sp>
      <p:sp>
        <p:nvSpPr>
          <p:cNvPr id="20" name="Text 18"/>
          <p:cNvSpPr/>
          <p:nvPr/>
        </p:nvSpPr>
        <p:spPr>
          <a:xfrm>
            <a:off x="2103120" y="5394960"/>
            <a:ext cx="5303520" cy="274320"/>
          </a:xfrm>
          <a:prstGeom prst="rect">
            <a:avLst/>
          </a:prstGeom>
          <a:noFill/>
          <a:ln/>
        </p:spPr>
        <p:txBody>
          <a:bodyPr wrap="square" lIns="0" tIns="0" rIns="0" bIns="0" rtlCol="0" anchor="ctr"/>
          <a:lstStyle/>
          <a:p>
            <a:pPr indent="0" marL="0">
              <a:buNone/>
            </a:pPr>
            <a:r>
              <a:rPr lang="en-US" sz="1200" dirty="0">
                <a:solidFill>
                  <a:srgbClr val="C4CAD3"/>
                </a:solidFill>
                <a:latin typeface="Inter" pitchFamily="34" charset="0"/>
                <a:ea typeface="Inter" pitchFamily="34" charset="-122"/>
                <a:cs typeface="Inter" pitchFamily="34" charset="-120"/>
              </a:rPr>
              <a:t>Keep last-known data, surface an OFFLINE badge</a:t>
            </a:r>
            <a:endParaRPr lang="en-US" sz="1200" dirty="0"/>
          </a:p>
        </p:txBody>
      </p:sp>
      <p:pic>
        <p:nvPicPr>
          <p:cNvPr id="21" name="Image 0" descr="/Users/Eliel/Projects/surfvikings/docs/screenshots/dashboard.png">    </p:cNvPr>
          <p:cNvPicPr>
            <a:picLocks noChangeAspect="1"/>
          </p:cNvPicPr>
          <p:nvPr/>
        </p:nvPicPr>
        <p:blipFill>
          <a:blip r:embed="rId1"/>
          <a:stretch>
            <a:fillRect/>
          </a:stretch>
        </p:blipFill>
        <p:spPr>
          <a:xfrm>
            <a:off x="9252736" y="1280160"/>
            <a:ext cx="2024559" cy="4389120"/>
          </a:xfrm>
          <a:prstGeom prst="rect">
            <a:avLst/>
          </a:prstGeom>
        </p:spPr>
      </p:pic>
      <p:sp>
        <p:nvSpPr>
          <p:cNvPr id="22" name="Text 19"/>
          <p:cNvSpPr/>
          <p:nvPr/>
        </p:nvSpPr>
        <p:spPr>
          <a:xfrm>
            <a:off x="9161296" y="5760720"/>
            <a:ext cx="2207439" cy="274320"/>
          </a:xfrm>
          <a:prstGeom prst="rect">
            <a:avLst/>
          </a:prstGeom>
          <a:noFill/>
          <a:ln/>
        </p:spPr>
        <p:txBody>
          <a:bodyPr wrap="square" lIns="0" tIns="0" rIns="0" bIns="0" rtlCol="0" anchor="ctr"/>
          <a:lstStyle/>
          <a:p>
            <a:pPr algn="ctr" indent="0" marL="0">
              <a:buNone/>
            </a:pPr>
            <a:r>
              <a:rPr lang="en-US" sz="900" spc="200" kern="0" dirty="0">
                <a:solidFill>
                  <a:srgbClr val="7EE787"/>
                </a:solidFill>
                <a:latin typeface="JetBrains Mono" pitchFamily="34" charset="0"/>
                <a:ea typeface="JetBrains Mono" pitchFamily="34" charset="-122"/>
                <a:cs typeface="JetBrains Mono" pitchFamily="34" charset="-120"/>
              </a:rPr>
              <a:t>LIVE · BUOY 46012 · 0M AGO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06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03 · DESIGN SYSTEM</a:t>
            </a:r>
            <a:endParaRPr lang="en-US" sz="1000" dirty="0"/>
          </a:p>
        </p:txBody>
      </p:sp>
      <p:sp>
        <p:nvSpPr>
          <p:cNvPr id="10" name="Text 8"/>
          <p:cNvSpPr/>
          <p:nvPr/>
        </p:nvSpPr>
        <p:spPr>
          <a:xfrm>
            <a:off x="731520" y="1463040"/>
            <a:ext cx="10058400" cy="1463040"/>
          </a:xfrm>
          <a:prstGeom prst="rect">
            <a:avLst/>
          </a:prstGeom>
          <a:noFill/>
          <a:ln/>
        </p:spPr>
        <p:txBody>
          <a:bodyPr wrap="square" lIns="0" tIns="0" rIns="0" bIns="0" rtlCol="0" anchor="t"/>
          <a:lstStyle/>
          <a:p>
            <a:pPr algn="l" indent="0" marL="0">
              <a:buNone/>
            </a:pPr>
            <a:r>
              <a:rPr lang="en-US" sz="3600" b="1" spc="-50" kern="0" dirty="0">
                <a:solidFill>
                  <a:srgbClr val="F2F4F7"/>
                </a:solidFill>
                <a:latin typeface="Inter" pitchFamily="34" charset="0"/>
                <a:ea typeface="Inter" pitchFamily="34" charset="-122"/>
                <a:cs typeface="Inter" pitchFamily="34" charset="-120"/>
              </a:rPr>
              <a:t>Color conveys quality, not state.</a:t>
            </a:r>
            <a:endParaRPr lang="en-US" sz="3600" dirty="0"/>
          </a:p>
        </p:txBody>
      </p:sp>
      <p:sp>
        <p:nvSpPr>
          <p:cNvPr id="11" name="Text 9"/>
          <p:cNvSpPr/>
          <p:nvPr/>
        </p:nvSpPr>
        <p:spPr>
          <a:xfrm>
            <a:off x="731520" y="2651760"/>
            <a:ext cx="10698480" cy="109728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Red-green is the lazy default for scoring — it carries medical emergency connotations and flattens nuance. A 7-tier palette (phosphor -&gt; amber) paired with numeric scores communicates more information with less cognitive load, and reads correctly across all color-vision profiles.</a:t>
            </a:r>
            <a:endParaRPr lang="en-US" sz="1400" dirty="0"/>
          </a:p>
        </p:txBody>
      </p:sp>
      <p:sp>
        <p:nvSpPr>
          <p:cNvPr id="12" name="Shape 10"/>
          <p:cNvSpPr/>
          <p:nvPr/>
        </p:nvSpPr>
        <p:spPr>
          <a:xfrm>
            <a:off x="822960" y="3657600"/>
            <a:ext cx="1349785" cy="1051560"/>
          </a:xfrm>
          <a:prstGeom prst="rect">
            <a:avLst/>
          </a:prstGeom>
          <a:solidFill>
            <a:srgbClr val="05F772"/>
          </a:solidFill>
          <a:ln/>
        </p:spPr>
      </p:sp>
      <p:sp>
        <p:nvSpPr>
          <p:cNvPr id="13" name="Text 11"/>
          <p:cNvSpPr/>
          <p:nvPr/>
        </p:nvSpPr>
        <p:spPr>
          <a:xfrm>
            <a:off x="822960"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EPIC</a:t>
            </a:r>
            <a:endParaRPr lang="en-US" sz="1100" dirty="0"/>
          </a:p>
        </p:txBody>
      </p:sp>
      <p:sp>
        <p:nvSpPr>
          <p:cNvPr id="14" name="Text 12"/>
          <p:cNvSpPr/>
          <p:nvPr/>
        </p:nvSpPr>
        <p:spPr>
          <a:xfrm>
            <a:off x="822960"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80-100</a:t>
            </a:r>
            <a:endParaRPr lang="en-US" sz="900" dirty="0"/>
          </a:p>
        </p:txBody>
      </p:sp>
      <p:sp>
        <p:nvSpPr>
          <p:cNvPr id="15" name="Text 13"/>
          <p:cNvSpPr/>
          <p:nvPr/>
        </p:nvSpPr>
        <p:spPr>
          <a:xfrm>
            <a:off x="822960"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#05F772</a:t>
            </a:r>
            <a:endParaRPr lang="en-US" sz="800" dirty="0"/>
          </a:p>
        </p:txBody>
      </p:sp>
      <p:sp>
        <p:nvSpPr>
          <p:cNvPr id="16" name="Shape 14"/>
          <p:cNvSpPr/>
          <p:nvPr/>
        </p:nvSpPr>
        <p:spPr>
          <a:xfrm>
            <a:off x="2355625" y="3657600"/>
            <a:ext cx="1349785" cy="1051560"/>
          </a:xfrm>
          <a:prstGeom prst="rect">
            <a:avLst/>
          </a:prstGeom>
          <a:solidFill>
            <a:srgbClr val="8EF705"/>
          </a:solidFill>
          <a:ln/>
        </p:spPr>
      </p:sp>
      <p:sp>
        <p:nvSpPr>
          <p:cNvPr id="17" name="Text 15"/>
          <p:cNvSpPr/>
          <p:nvPr/>
        </p:nvSpPr>
        <p:spPr>
          <a:xfrm>
            <a:off x="2355625"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GOOD</a:t>
            </a:r>
            <a:endParaRPr lang="en-US" sz="1100" dirty="0"/>
          </a:p>
        </p:txBody>
      </p:sp>
      <p:sp>
        <p:nvSpPr>
          <p:cNvPr id="18" name="Text 16"/>
          <p:cNvSpPr/>
          <p:nvPr/>
        </p:nvSpPr>
        <p:spPr>
          <a:xfrm>
            <a:off x="2355625"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60-79</a:t>
            </a:r>
            <a:endParaRPr lang="en-US" sz="900" dirty="0"/>
          </a:p>
        </p:txBody>
      </p:sp>
      <p:sp>
        <p:nvSpPr>
          <p:cNvPr id="19" name="Text 17"/>
          <p:cNvSpPr/>
          <p:nvPr/>
        </p:nvSpPr>
        <p:spPr>
          <a:xfrm>
            <a:off x="2355625"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#8EF705</a:t>
            </a:r>
            <a:endParaRPr lang="en-US" sz="800" dirty="0"/>
          </a:p>
        </p:txBody>
      </p:sp>
      <p:sp>
        <p:nvSpPr>
          <p:cNvPr id="20" name="Shape 18"/>
          <p:cNvSpPr/>
          <p:nvPr/>
        </p:nvSpPr>
        <p:spPr>
          <a:xfrm>
            <a:off x="3888290" y="3657600"/>
            <a:ext cx="1349785" cy="1051560"/>
          </a:xfrm>
          <a:prstGeom prst="rect">
            <a:avLst/>
          </a:prstGeom>
          <a:solidFill>
            <a:srgbClr val="BAF705"/>
          </a:solidFill>
          <a:ln/>
        </p:spPr>
      </p:sp>
      <p:sp>
        <p:nvSpPr>
          <p:cNvPr id="21" name="Text 19"/>
          <p:cNvSpPr/>
          <p:nvPr/>
        </p:nvSpPr>
        <p:spPr>
          <a:xfrm>
            <a:off x="3888290"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FAIR</a:t>
            </a:r>
            <a:endParaRPr lang="en-US" sz="1100" dirty="0"/>
          </a:p>
        </p:txBody>
      </p:sp>
      <p:sp>
        <p:nvSpPr>
          <p:cNvPr id="22" name="Text 20"/>
          <p:cNvSpPr/>
          <p:nvPr/>
        </p:nvSpPr>
        <p:spPr>
          <a:xfrm>
            <a:off x="3888290"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50-59</a:t>
            </a:r>
            <a:endParaRPr lang="en-US" sz="900" dirty="0"/>
          </a:p>
        </p:txBody>
      </p:sp>
      <p:sp>
        <p:nvSpPr>
          <p:cNvPr id="23" name="Text 21"/>
          <p:cNvSpPr/>
          <p:nvPr/>
        </p:nvSpPr>
        <p:spPr>
          <a:xfrm>
            <a:off x="3888290"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#BAF705</a:t>
            </a:r>
            <a:endParaRPr lang="en-US" sz="800" dirty="0"/>
          </a:p>
        </p:txBody>
      </p:sp>
      <p:sp>
        <p:nvSpPr>
          <p:cNvPr id="24" name="Shape 22"/>
          <p:cNvSpPr/>
          <p:nvPr/>
        </p:nvSpPr>
        <p:spPr>
          <a:xfrm>
            <a:off x="5420955" y="3657600"/>
            <a:ext cx="1349785" cy="1051560"/>
          </a:xfrm>
          <a:prstGeom prst="rect">
            <a:avLst/>
          </a:prstGeom>
          <a:solidFill>
            <a:srgbClr val="F5A524"/>
          </a:solidFill>
          <a:ln/>
        </p:spPr>
      </p:sp>
      <p:sp>
        <p:nvSpPr>
          <p:cNvPr id="25" name="Text 23"/>
          <p:cNvSpPr/>
          <p:nvPr/>
        </p:nvSpPr>
        <p:spPr>
          <a:xfrm>
            <a:off x="5420955"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MID</a:t>
            </a:r>
            <a:endParaRPr lang="en-US" sz="1100" dirty="0"/>
          </a:p>
        </p:txBody>
      </p:sp>
      <p:sp>
        <p:nvSpPr>
          <p:cNvPr id="26" name="Text 24"/>
          <p:cNvSpPr/>
          <p:nvPr/>
        </p:nvSpPr>
        <p:spPr>
          <a:xfrm>
            <a:off x="5420955"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35-49</a:t>
            </a:r>
            <a:endParaRPr lang="en-US" sz="900" dirty="0"/>
          </a:p>
        </p:txBody>
      </p:sp>
      <p:sp>
        <p:nvSpPr>
          <p:cNvPr id="27" name="Text 25"/>
          <p:cNvSpPr/>
          <p:nvPr/>
        </p:nvSpPr>
        <p:spPr>
          <a:xfrm>
            <a:off x="5420955"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#F5A524</a:t>
            </a:r>
            <a:endParaRPr lang="en-US" sz="800" dirty="0"/>
          </a:p>
        </p:txBody>
      </p:sp>
      <p:sp>
        <p:nvSpPr>
          <p:cNvPr id="28" name="Shape 26"/>
          <p:cNvSpPr/>
          <p:nvPr/>
        </p:nvSpPr>
        <p:spPr>
          <a:xfrm>
            <a:off x="6953620" y="3657600"/>
            <a:ext cx="1349785" cy="1051560"/>
          </a:xfrm>
          <a:prstGeom prst="rect">
            <a:avLst/>
          </a:prstGeom>
          <a:solidFill>
            <a:srgbClr val="F97316"/>
          </a:solidFill>
          <a:ln/>
        </p:spPr>
      </p:sp>
      <p:sp>
        <p:nvSpPr>
          <p:cNvPr id="29" name="Text 27"/>
          <p:cNvSpPr/>
          <p:nvPr/>
        </p:nvSpPr>
        <p:spPr>
          <a:xfrm>
            <a:off x="6953620"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MEH</a:t>
            </a:r>
            <a:endParaRPr lang="en-US" sz="1100" dirty="0"/>
          </a:p>
        </p:txBody>
      </p:sp>
      <p:sp>
        <p:nvSpPr>
          <p:cNvPr id="30" name="Text 28"/>
          <p:cNvSpPr/>
          <p:nvPr/>
        </p:nvSpPr>
        <p:spPr>
          <a:xfrm>
            <a:off x="6953620"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30-34</a:t>
            </a:r>
            <a:endParaRPr lang="en-US" sz="900" dirty="0"/>
          </a:p>
        </p:txBody>
      </p:sp>
      <p:sp>
        <p:nvSpPr>
          <p:cNvPr id="31" name="Text 29"/>
          <p:cNvSpPr/>
          <p:nvPr/>
        </p:nvSpPr>
        <p:spPr>
          <a:xfrm>
            <a:off x="6953620"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#F97316</a:t>
            </a:r>
            <a:endParaRPr lang="en-US" sz="800" dirty="0"/>
          </a:p>
        </p:txBody>
      </p:sp>
      <p:sp>
        <p:nvSpPr>
          <p:cNvPr id="32" name="Shape 30"/>
          <p:cNvSpPr/>
          <p:nvPr/>
        </p:nvSpPr>
        <p:spPr>
          <a:xfrm>
            <a:off x="8486285" y="3657600"/>
            <a:ext cx="1349785" cy="1051560"/>
          </a:xfrm>
          <a:prstGeom prst="rect">
            <a:avLst/>
          </a:prstGeom>
          <a:solidFill>
            <a:srgbClr val="EF4444"/>
          </a:solidFill>
          <a:ln/>
        </p:spPr>
      </p:sp>
      <p:sp>
        <p:nvSpPr>
          <p:cNvPr id="33" name="Text 31"/>
          <p:cNvSpPr/>
          <p:nvPr/>
        </p:nvSpPr>
        <p:spPr>
          <a:xfrm>
            <a:off x="8486285"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POOR</a:t>
            </a:r>
            <a:endParaRPr lang="en-US" sz="1100" dirty="0"/>
          </a:p>
        </p:txBody>
      </p:sp>
      <p:sp>
        <p:nvSpPr>
          <p:cNvPr id="34" name="Text 32"/>
          <p:cNvSpPr/>
          <p:nvPr/>
        </p:nvSpPr>
        <p:spPr>
          <a:xfrm>
            <a:off x="8486285"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15-29</a:t>
            </a:r>
            <a:endParaRPr lang="en-US" sz="900" dirty="0"/>
          </a:p>
        </p:txBody>
      </p:sp>
      <p:sp>
        <p:nvSpPr>
          <p:cNvPr id="35" name="Text 33"/>
          <p:cNvSpPr/>
          <p:nvPr/>
        </p:nvSpPr>
        <p:spPr>
          <a:xfrm>
            <a:off x="8486285"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#EF4444</a:t>
            </a:r>
            <a:endParaRPr lang="en-US" sz="800" dirty="0"/>
          </a:p>
        </p:txBody>
      </p:sp>
      <p:sp>
        <p:nvSpPr>
          <p:cNvPr id="36" name="Shape 34"/>
          <p:cNvSpPr/>
          <p:nvPr/>
        </p:nvSpPr>
        <p:spPr>
          <a:xfrm>
            <a:off x="10018950" y="3657600"/>
            <a:ext cx="1349785" cy="1051560"/>
          </a:xfrm>
          <a:prstGeom prst="rect">
            <a:avLst/>
          </a:prstGeom>
          <a:solidFill>
            <a:srgbClr val="4B5058"/>
          </a:solidFill>
          <a:ln/>
        </p:spPr>
      </p:sp>
      <p:sp>
        <p:nvSpPr>
          <p:cNvPr id="37" name="Text 35"/>
          <p:cNvSpPr/>
          <p:nvPr/>
        </p:nvSpPr>
        <p:spPr>
          <a:xfrm>
            <a:off x="10018950" y="4846320"/>
            <a:ext cx="1349785" cy="274320"/>
          </a:xfrm>
          <a:prstGeom prst="rect">
            <a:avLst/>
          </a:prstGeom>
          <a:noFill/>
          <a:ln/>
        </p:spPr>
        <p:txBody>
          <a:bodyPr wrap="square" lIns="0" tIns="0" rIns="0" bIns="0" rtlCol="0" anchor="ctr"/>
          <a:lstStyle/>
          <a:p>
            <a:pPr indent="0" marL="0">
              <a:buNone/>
            </a:pPr>
            <a:r>
              <a:rPr lang="en-US" sz="1100" b="1" spc="300" kern="0" dirty="0">
                <a:solidFill>
                  <a:srgbClr val="F2F4F7"/>
                </a:solidFill>
                <a:latin typeface="JetBrains Mono" pitchFamily="34" charset="0"/>
                <a:ea typeface="JetBrains Mono" pitchFamily="34" charset="-122"/>
                <a:cs typeface="JetBrains Mono" pitchFamily="34" charset="-120"/>
              </a:rPr>
              <a:t>FLAT</a:t>
            </a:r>
            <a:endParaRPr lang="en-US" sz="1100" dirty="0"/>
          </a:p>
        </p:txBody>
      </p:sp>
      <p:sp>
        <p:nvSpPr>
          <p:cNvPr id="38" name="Text 36"/>
          <p:cNvSpPr/>
          <p:nvPr/>
        </p:nvSpPr>
        <p:spPr>
          <a:xfrm>
            <a:off x="10018950" y="5120640"/>
            <a:ext cx="1349785" cy="228600"/>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0-14</a:t>
            </a:r>
            <a:endParaRPr lang="en-US" sz="900" dirty="0"/>
          </a:p>
        </p:txBody>
      </p:sp>
      <p:sp>
        <p:nvSpPr>
          <p:cNvPr id="39" name="Text 37"/>
          <p:cNvSpPr/>
          <p:nvPr/>
        </p:nvSpPr>
        <p:spPr>
          <a:xfrm>
            <a:off x="10018950" y="5367528"/>
            <a:ext cx="1349785" cy="228600"/>
          </a:xfrm>
          <a:prstGeom prst="rect">
            <a:avLst/>
          </a:prstGeom>
          <a:noFill/>
          <a:ln/>
        </p:spPr>
        <p:txBody>
          <a:bodyPr wrap="square" lIns="0" tIns="0" rIns="0" bIns="0" rtlCol="0" anchor="ctr"/>
          <a:lstStyle/>
          <a:p>
            <a:pPr indent="0" marL="0">
              <a:buNone/>
            </a:pPr>
            <a:r>
              <a:rPr lang="en-US" sz="800" spc="100" kern="0" dirty="0">
                <a:solidFill>
                  <a:srgbClr val="AFB5BF"/>
                </a:solidFill>
                <a:latin typeface="JetBrains Mono" pitchFamily="34" charset="0"/>
                <a:ea typeface="JetBrains Mono" pitchFamily="34" charset="-122"/>
                <a:cs typeface="JetBrains Mono" pitchFamily="34" charset="-120"/>
              </a:rPr>
              <a:t>#4B5058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07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04 · MERCH PIPELINE</a:t>
            </a:r>
            <a:endParaRPr lang="en-US" sz="1000" dirty="0"/>
          </a:p>
        </p:txBody>
      </p:sp>
      <p:sp>
        <p:nvSpPr>
          <p:cNvPr id="10" name="Text 8"/>
          <p:cNvSpPr/>
          <p:nvPr/>
        </p:nvSpPr>
        <p:spPr>
          <a:xfrm>
            <a:off x="731520" y="1463040"/>
            <a:ext cx="6858000" cy="1463040"/>
          </a:xfrm>
          <a:prstGeom prst="rect">
            <a:avLst/>
          </a:prstGeom>
          <a:noFill/>
          <a:ln/>
        </p:spPr>
        <p:txBody>
          <a:bodyPr wrap="square" lIns="0" tIns="0" rIns="0" bIns="0" rtlCol="0" anchor="t"/>
          <a:lstStyle/>
          <a:p>
            <a:pPr algn="l" indent="0" marL="0">
              <a:buNone/>
            </a:pPr>
            <a:r>
              <a:rPr lang="en-US" sz="2800" b="1" spc="-50" kern="0" dirty="0">
                <a:solidFill>
                  <a:srgbClr val="F2F4F7"/>
                </a:solidFill>
                <a:latin typeface="Inter" pitchFamily="34" charset="0"/>
                <a:ea typeface="Inter" pitchFamily="34" charset="-122"/>
                <a:cs typeface="Inter" pitchFamily="34" charset="-120"/>
              </a:rPr>
              <a:t>When the platform fights you,</a:t>
            </a:r>
            <a:endParaRPr lang="en-US" sz="2800" dirty="0"/>
          </a:p>
          <a:p>
            <a:pPr algn="l" indent="0" marL="0">
              <a:buNone/>
            </a:pPr>
            <a:r>
              <a:rPr lang="en-US" sz="2800" b="1" spc="-50" kern="0" dirty="0">
                <a:solidFill>
                  <a:srgbClr val="F2F4F7"/>
                </a:solidFill>
                <a:latin typeface="Inter" pitchFamily="34" charset="0"/>
                <a:ea typeface="Inter" pitchFamily="34" charset="-122"/>
                <a:cs typeface="Inter" pitchFamily="34" charset="-120"/>
              </a:rPr>
              <a:t>route through what it trusts.</a:t>
            </a:r>
            <a:endParaRPr lang="en-US" sz="2800" dirty="0"/>
          </a:p>
        </p:txBody>
      </p:sp>
      <p:sp>
        <p:nvSpPr>
          <p:cNvPr id="11" name="Text 9"/>
          <p:cNvSpPr/>
          <p:nvPr/>
        </p:nvSpPr>
        <p:spPr>
          <a:xfrm>
            <a:off x="731520" y="3017520"/>
            <a:ext cx="6675120" cy="128016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curl returned 403. Cloudflare bot challenge. Playwright's ctx.request.get() also 403: browser contexts don't share challenge cookies between hostnames for the request API. Fix: route fetches through page.goto(), which runs in the authenticated Chromium page context.</a:t>
            </a:r>
            <a:endParaRPr lang="en-US" sz="1400" dirty="0"/>
          </a:p>
        </p:txBody>
      </p:sp>
      <p:sp>
        <p:nvSpPr>
          <p:cNvPr id="12" name="Text 10"/>
          <p:cNvSpPr/>
          <p:nvPr/>
        </p:nvSpPr>
        <p:spPr>
          <a:xfrm>
            <a:off x="731520" y="4480560"/>
            <a:ext cx="4572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JetBrains Mono" pitchFamily="34" charset="0"/>
                <a:ea typeface="JetBrains Mono" pitchFamily="34" charset="-122"/>
                <a:cs typeface="JetBrains Mono" pitchFamily="34" charset="-120"/>
              </a:rPr>
              <a:t>01</a:t>
            </a:r>
            <a:endParaRPr lang="en-US" sz="1000" dirty="0"/>
          </a:p>
        </p:txBody>
      </p:sp>
      <p:sp>
        <p:nvSpPr>
          <p:cNvPr id="13" name="Text 11"/>
          <p:cNvSpPr/>
          <p:nvPr/>
        </p:nvSpPr>
        <p:spPr>
          <a:xfrm>
            <a:off x="1188720" y="4480560"/>
            <a:ext cx="6400800" cy="201168"/>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Warm the storefront to pass the HTML challenge</a:t>
            </a:r>
            <a:endParaRPr lang="en-US" sz="1100" dirty="0"/>
          </a:p>
        </p:txBody>
      </p:sp>
      <p:sp>
        <p:nvSpPr>
          <p:cNvPr id="14" name="Text 12"/>
          <p:cNvSpPr/>
          <p:nvPr/>
        </p:nvSpPr>
        <p:spPr>
          <a:xfrm>
            <a:off x="731520" y="4700016"/>
            <a:ext cx="4572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JetBrains Mono" pitchFamily="34" charset="0"/>
                <a:ea typeface="JetBrains Mono" pitchFamily="34" charset="-122"/>
                <a:cs typeface="JetBrains Mono" pitchFamily="34" charset="-120"/>
              </a:rPr>
              <a:t>02</a:t>
            </a:r>
            <a:endParaRPr lang="en-US" sz="1000" dirty="0"/>
          </a:p>
        </p:txBody>
      </p:sp>
      <p:sp>
        <p:nvSpPr>
          <p:cNvPr id="15" name="Text 13"/>
          <p:cNvSpPr/>
          <p:nvPr/>
        </p:nvSpPr>
        <p:spPr>
          <a:xfrm>
            <a:off x="1188720" y="4700016"/>
            <a:ext cx="6400800" cy="201168"/>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Scroll to lazy-load all product cards</a:t>
            </a:r>
            <a:endParaRPr lang="en-US" sz="1100" dirty="0"/>
          </a:p>
        </p:txBody>
      </p:sp>
      <p:sp>
        <p:nvSpPr>
          <p:cNvPr id="16" name="Text 14"/>
          <p:cNvSpPr/>
          <p:nvPr/>
        </p:nvSpPr>
        <p:spPr>
          <a:xfrm>
            <a:off x="731520" y="4919472"/>
            <a:ext cx="4572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JetBrains Mono" pitchFamily="34" charset="0"/>
                <a:ea typeface="JetBrains Mono" pitchFamily="34" charset="-122"/>
                <a:cs typeface="JetBrains Mono" pitchFamily="34" charset="-120"/>
              </a:rPr>
              <a:t>03</a:t>
            </a:r>
            <a:endParaRPr lang="en-US" sz="1000" dirty="0"/>
          </a:p>
        </p:txBody>
      </p:sp>
      <p:sp>
        <p:nvSpPr>
          <p:cNvPr id="17" name="Text 15"/>
          <p:cNvSpPr/>
          <p:nvPr/>
        </p:nvSpPr>
        <p:spPr>
          <a:xfrm>
            <a:off x="1188720" y="4919472"/>
            <a:ext cx="6400800" cy="201168"/>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Dedupe variants via canonical-URL regex</a:t>
            </a:r>
            <a:endParaRPr lang="en-US" sz="1100" dirty="0"/>
          </a:p>
        </p:txBody>
      </p:sp>
      <p:sp>
        <p:nvSpPr>
          <p:cNvPr id="18" name="Text 16"/>
          <p:cNvSpPr/>
          <p:nvPr/>
        </p:nvSpPr>
        <p:spPr>
          <a:xfrm>
            <a:off x="731520" y="5138928"/>
            <a:ext cx="4572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JetBrains Mono" pitchFamily="34" charset="0"/>
                <a:ea typeface="JetBrains Mono" pitchFamily="34" charset="-122"/>
                <a:cs typeface="JetBrains Mono" pitchFamily="34" charset="-120"/>
              </a:rPr>
              <a:t>04</a:t>
            </a:r>
            <a:endParaRPr lang="en-US" sz="1000" dirty="0"/>
          </a:p>
        </p:txBody>
      </p:sp>
      <p:sp>
        <p:nvSpPr>
          <p:cNvPr id="19" name="Text 17"/>
          <p:cNvSpPr/>
          <p:nvPr/>
        </p:nvSpPr>
        <p:spPr>
          <a:xfrm>
            <a:off x="1188720" y="5138928"/>
            <a:ext cx="6400800" cy="201168"/>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Warm the CDN origin through a dummy page.goto()</a:t>
            </a:r>
            <a:endParaRPr lang="en-US" sz="1100" dirty="0"/>
          </a:p>
        </p:txBody>
      </p:sp>
      <p:sp>
        <p:nvSpPr>
          <p:cNvPr id="20" name="Text 18"/>
          <p:cNvSpPr/>
          <p:nvPr/>
        </p:nvSpPr>
        <p:spPr>
          <a:xfrm>
            <a:off x="731520" y="5358384"/>
            <a:ext cx="4572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JetBrains Mono" pitchFamily="34" charset="0"/>
                <a:ea typeface="JetBrains Mono" pitchFamily="34" charset="-122"/>
                <a:cs typeface="JetBrains Mono" pitchFamily="34" charset="-120"/>
              </a:rPr>
              <a:t>05</a:t>
            </a:r>
            <a:endParaRPr lang="en-US" sz="1000" dirty="0"/>
          </a:p>
        </p:txBody>
      </p:sp>
      <p:sp>
        <p:nvSpPr>
          <p:cNvPr id="21" name="Text 19"/>
          <p:cNvSpPr/>
          <p:nvPr/>
        </p:nvSpPr>
        <p:spPr>
          <a:xfrm>
            <a:off x="1188720" y="5358384"/>
            <a:ext cx="6400800" cy="201168"/>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Download each image through the page context</a:t>
            </a:r>
            <a:endParaRPr lang="en-US" sz="1100" dirty="0"/>
          </a:p>
        </p:txBody>
      </p:sp>
      <p:sp>
        <p:nvSpPr>
          <p:cNvPr id="22" name="Text 20"/>
          <p:cNvSpPr/>
          <p:nvPr/>
        </p:nvSpPr>
        <p:spPr>
          <a:xfrm>
            <a:off x="731520" y="5577840"/>
            <a:ext cx="457200" cy="201168"/>
          </a:xfrm>
          <a:prstGeom prst="rect">
            <a:avLst/>
          </a:prstGeom>
          <a:noFill/>
          <a:ln/>
        </p:spPr>
        <p:txBody>
          <a:bodyPr wrap="square" lIns="0" tIns="0" rIns="0" bIns="0" rtlCol="0" anchor="ctr"/>
          <a:lstStyle/>
          <a:p>
            <a:pPr indent="0" marL="0">
              <a:buNone/>
            </a:pPr>
            <a:r>
              <a:rPr lang="en-US" sz="1000" b="1" spc="100" kern="0" dirty="0">
                <a:solidFill>
                  <a:srgbClr val="2DD4BF"/>
                </a:solidFill>
                <a:latin typeface="JetBrains Mono" pitchFamily="34" charset="0"/>
                <a:ea typeface="JetBrains Mono" pitchFamily="34" charset="-122"/>
                <a:cs typeface="JetBrains Mono" pitchFamily="34" charset="-120"/>
              </a:rPr>
              <a:t>06</a:t>
            </a:r>
            <a:endParaRPr lang="en-US" sz="1000" dirty="0"/>
          </a:p>
        </p:txBody>
      </p:sp>
      <p:sp>
        <p:nvSpPr>
          <p:cNvPr id="23" name="Text 21"/>
          <p:cNvSpPr/>
          <p:nvPr/>
        </p:nvSpPr>
        <p:spPr>
          <a:xfrm>
            <a:off x="1188720" y="5577840"/>
            <a:ext cx="6400800" cy="201168"/>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Pipe through Sharp (600px, WebP q82)</a:t>
            </a:r>
            <a:endParaRPr lang="en-US" sz="1100" dirty="0"/>
          </a:p>
        </p:txBody>
      </p:sp>
      <p:pic>
        <p:nvPicPr>
          <p:cNvPr id="24" name="Image 0" descr="/Users/Eliel/Projects/surfvikings/docs/screenshots/merch-hero.png">    </p:cNvPr>
          <p:cNvPicPr>
            <a:picLocks noChangeAspect="1"/>
          </p:cNvPicPr>
          <p:nvPr/>
        </p:nvPicPr>
        <p:blipFill>
          <a:blip r:embed="rId1"/>
          <a:stretch>
            <a:fillRect/>
          </a:stretch>
        </p:blipFill>
        <p:spPr>
          <a:xfrm>
            <a:off x="7345375" y="1463040"/>
            <a:ext cx="4114800" cy="2571750"/>
          </a:xfrm>
          <a:prstGeom prst="rect">
            <a:avLst/>
          </a:prstGeom>
        </p:spPr>
      </p:pic>
      <p:sp>
        <p:nvSpPr>
          <p:cNvPr id="25" name="Text 22"/>
          <p:cNvSpPr/>
          <p:nvPr/>
        </p:nvSpPr>
        <p:spPr>
          <a:xfrm>
            <a:off x="7162495" y="4309110"/>
            <a:ext cx="4480560" cy="274320"/>
          </a:xfrm>
          <a:prstGeom prst="rect">
            <a:avLst/>
          </a:prstGeom>
          <a:noFill/>
          <a:ln/>
        </p:spPr>
        <p:txBody>
          <a:bodyPr wrap="square" lIns="0" tIns="0" rIns="0" bIns="0" rtlCol="0" anchor="ctr"/>
          <a:lstStyle/>
          <a:p>
            <a:pPr algn="ctr" indent="0" marL="0">
              <a:buNone/>
            </a:pPr>
            <a:r>
              <a:rPr lang="en-US" sz="1100" b="1" spc="100" kern="0" dirty="0">
                <a:solidFill>
                  <a:srgbClr val="2DD4BF"/>
                </a:solidFill>
                <a:latin typeface="JetBrains Mono" pitchFamily="34" charset="0"/>
                <a:ea typeface="JetBrains Mono" pitchFamily="34" charset="-122"/>
                <a:cs typeface="JetBrains Mono" pitchFamily="34" charset="-120"/>
              </a:rPr>
              <a:t>22</a:t>
            </a:r>
            <a:pPr algn="ctr" indent="0" marL="0">
              <a:buNone/>
            </a:pPr>
            <a:r>
              <a:rPr lang="en-US" sz="1100" spc="100" kern="0" dirty="0">
                <a:solidFill>
                  <a:srgbClr val="AFB5BF"/>
                </a:solidFill>
                <a:latin typeface="JetBrains Mono" pitchFamily="34" charset="0"/>
                <a:ea typeface="JetBrains Mono" pitchFamily="34" charset="-122"/>
                <a:cs typeface="JetBrains Mono" pitchFamily="34" charset="-120"/>
              </a:rPr>
              <a:t>  products   </a:t>
            </a:r>
            <a:pPr algn="ctr" indent="0" marL="0">
              <a:buNone/>
            </a:pPr>
            <a:r>
              <a:rPr lang="en-US" sz="1100" spc="100" kern="0" dirty="0">
                <a:solidFill>
                  <a:srgbClr val="24272E"/>
                </a:solidFill>
                <a:latin typeface="JetBrains Mono" pitchFamily="34" charset="0"/>
                <a:ea typeface="JetBrains Mono" pitchFamily="34" charset="-122"/>
                <a:cs typeface="JetBrains Mono" pitchFamily="34" charset="-120"/>
              </a:rPr>
              <a:t>·</a:t>
            </a:r>
            <a:pPr algn="ctr" indent="0" marL="0">
              <a:buNone/>
            </a:pPr>
            <a:r>
              <a:rPr lang="en-US" sz="1100" b="1" spc="100" kern="0" dirty="0">
                <a:solidFill>
                  <a:srgbClr val="2DD4BF"/>
                </a:solidFill>
                <a:latin typeface="JetBrains Mono" pitchFamily="34" charset="0"/>
                <a:ea typeface="JetBrains Mono" pitchFamily="34" charset="-122"/>
                <a:cs typeface="JetBrains Mono" pitchFamily="34" charset="-120"/>
              </a:rPr>
              <a:t>   0</a:t>
            </a:r>
            <a:pPr algn="ctr" indent="0" marL="0">
              <a:buNone/>
            </a:pPr>
            <a:r>
              <a:rPr lang="en-US" sz="1100" spc="100" kern="0" dirty="0">
                <a:solidFill>
                  <a:srgbClr val="AFB5BF"/>
                </a:solidFill>
                <a:latin typeface="JetBrains Mono" pitchFamily="34" charset="0"/>
                <a:ea typeface="JetBrains Mono" pitchFamily="34" charset="-122"/>
                <a:cs typeface="JetBrains Mono" pitchFamily="34" charset="-120"/>
              </a:rPr>
              <a:t>  manual edits</a:t>
            </a:r>
            <a:endParaRPr lang="en-US" sz="1100" dirty="0"/>
          </a:p>
        </p:txBody>
      </p:sp>
      <p:sp>
        <p:nvSpPr>
          <p:cNvPr id="26" name="Text 23"/>
          <p:cNvSpPr/>
          <p:nvPr/>
        </p:nvSpPr>
        <p:spPr>
          <a:xfrm>
            <a:off x="7162495" y="4629150"/>
            <a:ext cx="4480560" cy="274320"/>
          </a:xfrm>
          <a:prstGeom prst="rect">
            <a:avLst/>
          </a:prstGeom>
          <a:noFill/>
          <a:ln/>
        </p:spPr>
        <p:txBody>
          <a:bodyPr wrap="square" lIns="0" tIns="0" rIns="0" bIns="0" rtlCol="0" anchor="ctr"/>
          <a:lstStyle/>
          <a:p>
            <a:pPr algn="ctr" indent="0" marL="0">
              <a:buNone/>
            </a:pPr>
            <a:r>
              <a:rPr lang="en-US" sz="1100" b="1" spc="100" kern="0" dirty="0">
                <a:solidFill>
                  <a:srgbClr val="2DD4BF"/>
                </a:solidFill>
                <a:latin typeface="JetBrains Mono" pitchFamily="34" charset="0"/>
                <a:ea typeface="JetBrains Mono" pitchFamily="34" charset="-122"/>
                <a:cs typeface="JetBrains Mono" pitchFamily="34" charset="-120"/>
              </a:rPr>
              <a:t>~20 KB</a:t>
            </a:r>
            <a:pPr algn="ctr" indent="0" marL="0">
              <a:buNone/>
            </a:pPr>
            <a:r>
              <a:rPr lang="en-US" sz="1100" spc="100" kern="0" dirty="0">
                <a:solidFill>
                  <a:srgbClr val="AFB5BF"/>
                </a:solidFill>
                <a:latin typeface="JetBrains Mono" pitchFamily="34" charset="0"/>
                <a:ea typeface="JetBrains Mono" pitchFamily="34" charset="-122"/>
                <a:cs typeface="JetBrains Mono" pitchFamily="34" charset="-120"/>
              </a:rPr>
              <a:t>  average WebP   </a:t>
            </a:r>
            <a:pPr algn="ctr" indent="0" marL="0">
              <a:buNone/>
            </a:pPr>
            <a:r>
              <a:rPr lang="en-US" sz="1100" spc="100" kern="0" dirty="0">
                <a:solidFill>
                  <a:srgbClr val="24272E"/>
                </a:solidFill>
                <a:latin typeface="JetBrains Mono" pitchFamily="34" charset="0"/>
                <a:ea typeface="JetBrains Mono" pitchFamily="34" charset="-122"/>
                <a:cs typeface="JetBrains Mono" pitchFamily="34" charset="-120"/>
              </a:rPr>
              <a:t>·</a:t>
            </a:r>
            <a:pPr algn="ctr" indent="0" marL="0">
              <a:buNone/>
            </a:pPr>
            <a:r>
              <a:rPr lang="en-US" sz="1100" b="1" spc="100" kern="0" dirty="0">
                <a:solidFill>
                  <a:srgbClr val="2DD4BF"/>
                </a:solidFill>
                <a:latin typeface="JetBrains Mono" pitchFamily="34" charset="0"/>
                <a:ea typeface="JetBrains Mono" pitchFamily="34" charset="-122"/>
                <a:cs typeface="JetBrains Mono" pitchFamily="34" charset="-120"/>
              </a:rPr>
              <a:t>   0</a:t>
            </a:r>
            <a:pPr algn="ctr" indent="0" marL="0">
              <a:buNone/>
            </a:pPr>
            <a:r>
              <a:rPr lang="en-US" sz="1100" spc="100" kern="0" dirty="0">
                <a:solidFill>
                  <a:srgbClr val="AFB5BF"/>
                </a:solidFill>
                <a:latin typeface="JetBrains Mono" pitchFamily="34" charset="0"/>
                <a:ea typeface="JetBrains Mono" pitchFamily="34" charset="-122"/>
                <a:cs typeface="JetBrains Mono" pitchFamily="34" charset="-120"/>
              </a:rPr>
              <a:t>  hand-written copies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08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04 · RESULT</a:t>
            </a:r>
            <a:endParaRPr lang="en-US" sz="1000" dirty="0"/>
          </a:p>
        </p:txBody>
      </p:sp>
      <p:sp>
        <p:nvSpPr>
          <p:cNvPr id="10" name="Text 8"/>
          <p:cNvSpPr/>
          <p:nvPr/>
        </p:nvSpPr>
        <p:spPr>
          <a:xfrm>
            <a:off x="731520" y="1417320"/>
            <a:ext cx="9144000" cy="640080"/>
          </a:xfrm>
          <a:prstGeom prst="rect">
            <a:avLst/>
          </a:prstGeom>
          <a:noFill/>
          <a:ln/>
        </p:spPr>
        <p:txBody>
          <a:bodyPr wrap="square" lIns="0" tIns="0" rIns="0" bIns="0" rtlCol="0" anchor="t"/>
          <a:lstStyle/>
          <a:p>
            <a:pPr algn="l" indent="0" marL="0">
              <a:buNone/>
            </a:pPr>
            <a:r>
              <a:rPr lang="en-US" sz="3200" b="1" spc="-50" kern="0" dirty="0">
                <a:solidFill>
                  <a:srgbClr val="F2F4F7"/>
                </a:solidFill>
                <a:latin typeface="Inter" pitchFamily="34" charset="0"/>
                <a:ea typeface="Inter" pitchFamily="34" charset="-122"/>
                <a:cs typeface="Inter" pitchFamily="34" charset="-120"/>
              </a:rPr>
              <a:t>surfvikings.com / merch</a:t>
            </a:r>
            <a:endParaRPr lang="en-US" sz="3200" dirty="0"/>
          </a:p>
        </p:txBody>
      </p:sp>
      <p:pic>
        <p:nvPicPr>
          <p:cNvPr id="11" name="Image 0" descr="/Users/Eliel/Projects/surfvikings/docs/screenshots/merch-hero.png">    </p:cNvPr>
          <p:cNvPicPr>
            <a:picLocks noChangeAspect="1"/>
          </p:cNvPicPr>
          <p:nvPr/>
        </p:nvPicPr>
        <p:blipFill>
          <a:blip r:embed="rId1"/>
          <a:stretch>
            <a:fillRect/>
          </a:stretch>
        </p:blipFill>
        <p:spPr>
          <a:xfrm>
            <a:off x="3389224" y="2194560"/>
            <a:ext cx="5413248" cy="3383280"/>
          </a:xfrm>
          <a:prstGeom prst="rect">
            <a:avLst/>
          </a:prstGeom>
        </p:spPr>
      </p:pic>
      <p:sp>
        <p:nvSpPr>
          <p:cNvPr id="12" name="Shape 9"/>
          <p:cNvSpPr/>
          <p:nvPr/>
        </p:nvSpPr>
        <p:spPr>
          <a:xfrm>
            <a:off x="3389224" y="2194560"/>
            <a:ext cx="45720" cy="3383280"/>
          </a:xfrm>
          <a:prstGeom prst="rect">
            <a:avLst/>
          </a:prstGeom>
          <a:solidFill>
            <a:srgbClr val="2DD4BF"/>
          </a:solidFill>
          <a:ln/>
        </p:spPr>
      </p:sp>
      <p:sp>
        <p:nvSpPr>
          <p:cNvPr id="13" name="Text 10"/>
          <p:cNvSpPr/>
          <p:nvPr/>
        </p:nvSpPr>
        <p:spPr>
          <a:xfrm>
            <a:off x="731520" y="5852160"/>
            <a:ext cx="10728655" cy="365760"/>
          </a:xfrm>
          <a:prstGeom prst="rect">
            <a:avLst/>
          </a:prstGeom>
          <a:noFill/>
          <a:ln/>
        </p:spPr>
        <p:txBody>
          <a:bodyPr wrap="square" lIns="0" tIns="0" rIns="0" bIns="0" rtlCol="0" anchor="ctr"/>
          <a:lstStyle/>
          <a:p>
            <a:pPr algn="ctr" indent="0" marL="0">
              <a:buNone/>
            </a:pPr>
            <a:r>
              <a:rPr lang="en-US" sz="1000" b="1" spc="200" kern="0" dirty="0">
                <a:solidFill>
                  <a:srgbClr val="2DD4BF"/>
                </a:solidFill>
                <a:latin typeface="JetBrains Mono" pitchFamily="34" charset="0"/>
                <a:ea typeface="JetBrains Mono" pitchFamily="34" charset="-122"/>
                <a:cs typeface="JetBrains Mono" pitchFamily="34" charset="-120"/>
              </a:rPr>
              <a:t>HERO COLLAGE</a:t>
            </a:r>
            <a:pPr algn="ctr" indent="0" marL="0">
              <a:buNone/>
            </a:pPr>
            <a:r>
              <a:rPr lang="en-US" sz="1000" spc="200" kern="0" dirty="0">
                <a:solidFill>
                  <a:srgbClr val="AFB5BF"/>
                </a:solidFill>
                <a:latin typeface="JetBrains Mono" pitchFamily="34" charset="0"/>
                <a:ea typeface="JetBrains Mono" pitchFamily="34" charset="-122"/>
                <a:cs typeface="JetBrains Mono" pitchFamily="34" charset="-120"/>
              </a:rPr>
              <a:t>   +   SIX-CATEGORY GRID   ·   PLAYWRIGHT-CAPTURED   ·   SHARP-OPTIMIZED   ·   EDITORIAL-MERGED FROM A MAPPING TABLE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09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05 · INFRASTRUCTURE</a:t>
            </a:r>
            <a:endParaRPr lang="en-US" sz="1000" dirty="0"/>
          </a:p>
        </p:txBody>
      </p:sp>
      <p:sp>
        <p:nvSpPr>
          <p:cNvPr id="10" name="Text 8"/>
          <p:cNvSpPr/>
          <p:nvPr/>
        </p:nvSpPr>
        <p:spPr>
          <a:xfrm>
            <a:off x="731520" y="1463040"/>
            <a:ext cx="9144000" cy="1463040"/>
          </a:xfrm>
          <a:prstGeom prst="rect">
            <a:avLst/>
          </a:prstGeom>
          <a:noFill/>
          <a:ln/>
        </p:spPr>
        <p:txBody>
          <a:bodyPr wrap="square" lIns="0" tIns="0" rIns="0" bIns="0" rtlCol="0" anchor="t"/>
          <a:lstStyle/>
          <a:p>
            <a:pPr algn="l" indent="0" marL="0">
              <a:buNone/>
            </a:pPr>
            <a:r>
              <a:rPr lang="en-US" sz="3600" b="1" spc="-50" kern="0" dirty="0">
                <a:solidFill>
                  <a:srgbClr val="F2F4F7"/>
                </a:solidFill>
                <a:latin typeface="Inter" pitchFamily="34" charset="0"/>
                <a:ea typeface="Inter" pitchFamily="34" charset="-122"/>
                <a:cs typeface="Inter" pitchFamily="34" charset="-120"/>
              </a:rPr>
              <a:t>Decouple orthogonal concerns.</a:t>
            </a:r>
            <a:endParaRPr lang="en-US" sz="3600" dirty="0"/>
          </a:p>
        </p:txBody>
      </p:sp>
      <p:sp>
        <p:nvSpPr>
          <p:cNvPr id="11" name="Text 9"/>
          <p:cNvSpPr/>
          <p:nvPr/>
        </p:nvSpPr>
        <p:spPr>
          <a:xfrm>
            <a:off x="731520" y="2468880"/>
            <a:ext cx="10698480" cy="91440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Legacy surfvikings.com was a manually maintained static site on DreamHost shared hosting. Migrated to Vercel while preserving email routing at the same domain. Web hosting and email hosting are different services that happen to share a domain. DNS was the seam.</a:t>
            </a:r>
            <a:endParaRPr lang="en-US" sz="1400" dirty="0"/>
          </a:p>
        </p:txBody>
      </p:sp>
      <p:sp>
        <p:nvSpPr>
          <p:cNvPr id="12" name="Shape 10"/>
          <p:cNvSpPr/>
          <p:nvPr/>
        </p:nvSpPr>
        <p:spPr>
          <a:xfrm>
            <a:off x="731520" y="3566160"/>
            <a:ext cx="5181448" cy="1783080"/>
          </a:xfrm>
          <a:prstGeom prst="rect">
            <a:avLst/>
          </a:prstGeom>
          <a:solidFill>
            <a:srgbClr val="111317"/>
          </a:solidFill>
          <a:ln w="9525">
            <a:solidFill>
              <a:srgbClr val="24272E"/>
            </a:solidFill>
            <a:prstDash val="solid"/>
          </a:ln>
        </p:spPr>
      </p:sp>
      <p:sp>
        <p:nvSpPr>
          <p:cNvPr id="13" name="Text 11"/>
          <p:cNvSpPr/>
          <p:nvPr/>
        </p:nvSpPr>
        <p:spPr>
          <a:xfrm>
            <a:off x="1005840" y="3749040"/>
            <a:ext cx="4632808" cy="274320"/>
          </a:xfrm>
          <a:prstGeom prst="rect">
            <a:avLst/>
          </a:prstGeom>
          <a:noFill/>
          <a:ln/>
        </p:spPr>
        <p:txBody>
          <a:bodyPr wrap="square" lIns="0" tIns="0" rIns="0" bIns="0" rtlCol="0" anchor="ctr"/>
          <a:lstStyle/>
          <a:p>
            <a:pPr indent="0" marL="0">
              <a:buNone/>
            </a:pPr>
            <a:r>
              <a:rPr lang="en-US" sz="1000" b="1" spc="300" kern="0" dirty="0">
                <a:solidFill>
                  <a:srgbClr val="F5A524"/>
                </a:solidFill>
                <a:latin typeface="JetBrains Mono" pitchFamily="34" charset="0"/>
                <a:ea typeface="JetBrains Mono" pitchFamily="34" charset="-122"/>
                <a:cs typeface="JetBrains Mono" pitchFamily="34" charset="-120"/>
              </a:rPr>
              <a:t>BEFORE</a:t>
            </a:r>
            <a:endParaRPr lang="en-US" sz="1000" dirty="0"/>
          </a:p>
        </p:txBody>
      </p:sp>
      <p:sp>
        <p:nvSpPr>
          <p:cNvPr id="14" name="Text 12"/>
          <p:cNvSpPr/>
          <p:nvPr/>
        </p:nvSpPr>
        <p:spPr>
          <a:xfrm>
            <a:off x="1005840" y="416052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HOST</a:t>
            </a:r>
            <a:endParaRPr lang="en-US" sz="900" dirty="0"/>
          </a:p>
        </p:txBody>
      </p:sp>
      <p:sp>
        <p:nvSpPr>
          <p:cNvPr id="15" name="Text 13"/>
          <p:cNvSpPr/>
          <p:nvPr/>
        </p:nvSpPr>
        <p:spPr>
          <a:xfrm>
            <a:off x="2286000" y="4160520"/>
            <a:ext cx="3352648" cy="256032"/>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DreamHost shared hosting</a:t>
            </a:r>
            <a:endParaRPr lang="en-US" sz="1100" dirty="0"/>
          </a:p>
        </p:txBody>
      </p:sp>
      <p:sp>
        <p:nvSpPr>
          <p:cNvPr id="16" name="Text 14"/>
          <p:cNvSpPr/>
          <p:nvPr/>
        </p:nvSpPr>
        <p:spPr>
          <a:xfrm>
            <a:off x="1005840" y="443484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DEPLOY</a:t>
            </a:r>
            <a:endParaRPr lang="en-US" sz="900" dirty="0"/>
          </a:p>
        </p:txBody>
      </p:sp>
      <p:sp>
        <p:nvSpPr>
          <p:cNvPr id="17" name="Text 15"/>
          <p:cNvSpPr/>
          <p:nvPr/>
        </p:nvSpPr>
        <p:spPr>
          <a:xfrm>
            <a:off x="2286000" y="4434840"/>
            <a:ext cx="3352648" cy="256032"/>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Manual uploads via Cyberduck</a:t>
            </a:r>
            <a:endParaRPr lang="en-US" sz="1100" dirty="0"/>
          </a:p>
        </p:txBody>
      </p:sp>
      <p:sp>
        <p:nvSpPr>
          <p:cNvPr id="18" name="Text 16"/>
          <p:cNvSpPr/>
          <p:nvPr/>
        </p:nvSpPr>
        <p:spPr>
          <a:xfrm>
            <a:off x="1005840" y="470916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TLS</a:t>
            </a:r>
            <a:endParaRPr lang="en-US" sz="900" dirty="0"/>
          </a:p>
        </p:txBody>
      </p:sp>
      <p:sp>
        <p:nvSpPr>
          <p:cNvPr id="19" name="Text 17"/>
          <p:cNvSpPr/>
          <p:nvPr/>
        </p:nvSpPr>
        <p:spPr>
          <a:xfrm>
            <a:off x="2286000" y="4709160"/>
            <a:ext cx="3352648" cy="256032"/>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Self-managed</a:t>
            </a:r>
            <a:endParaRPr lang="en-US" sz="1100" dirty="0"/>
          </a:p>
        </p:txBody>
      </p:sp>
      <p:sp>
        <p:nvSpPr>
          <p:cNvPr id="20" name="Text 18"/>
          <p:cNvSpPr/>
          <p:nvPr/>
        </p:nvSpPr>
        <p:spPr>
          <a:xfrm>
            <a:off x="1005840" y="498348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EMAIL</a:t>
            </a:r>
            <a:endParaRPr lang="en-US" sz="900" dirty="0"/>
          </a:p>
        </p:txBody>
      </p:sp>
      <p:sp>
        <p:nvSpPr>
          <p:cNvPr id="21" name="Text 19"/>
          <p:cNvSpPr/>
          <p:nvPr/>
        </p:nvSpPr>
        <p:spPr>
          <a:xfrm>
            <a:off x="2286000" y="4983480"/>
            <a:ext cx="3352648" cy="256032"/>
          </a:xfrm>
          <a:prstGeom prst="rect">
            <a:avLst/>
          </a:prstGeom>
          <a:noFill/>
          <a:ln/>
        </p:spPr>
        <p:txBody>
          <a:bodyPr wrap="square" lIns="0" tIns="0" rIns="0" bIns="0" rtlCol="0" anchor="ctr"/>
          <a:lstStyle/>
          <a:p>
            <a:pPr indent="0" marL="0">
              <a:buNone/>
            </a:pPr>
            <a:r>
              <a:rPr lang="en-US" sz="1100" dirty="0">
                <a:solidFill>
                  <a:srgbClr val="C4CAD3"/>
                </a:solidFill>
                <a:latin typeface="Inter" pitchFamily="34" charset="0"/>
                <a:ea typeface="Inter" pitchFamily="34" charset="-122"/>
                <a:cs typeface="Inter" pitchFamily="34" charset="-120"/>
              </a:rPr>
              <a:t>DreamHost</a:t>
            </a:r>
            <a:endParaRPr lang="en-US" sz="1100" dirty="0"/>
          </a:p>
        </p:txBody>
      </p:sp>
      <p:sp>
        <p:nvSpPr>
          <p:cNvPr id="22" name="Shape 20"/>
          <p:cNvSpPr/>
          <p:nvPr/>
        </p:nvSpPr>
        <p:spPr>
          <a:xfrm>
            <a:off x="6278728" y="3566160"/>
            <a:ext cx="5181448" cy="1783080"/>
          </a:xfrm>
          <a:prstGeom prst="rect">
            <a:avLst/>
          </a:prstGeom>
          <a:solidFill>
            <a:srgbClr val="111317"/>
          </a:solidFill>
          <a:ln w="12700">
            <a:solidFill>
              <a:srgbClr val="2DD4BF"/>
            </a:solidFill>
            <a:prstDash val="solid"/>
          </a:ln>
        </p:spPr>
      </p:sp>
      <p:sp>
        <p:nvSpPr>
          <p:cNvPr id="23" name="Text 21"/>
          <p:cNvSpPr/>
          <p:nvPr/>
        </p:nvSpPr>
        <p:spPr>
          <a:xfrm>
            <a:off x="6553048" y="3749040"/>
            <a:ext cx="4632808" cy="274320"/>
          </a:xfrm>
          <a:prstGeom prst="rect">
            <a:avLst/>
          </a:prstGeom>
          <a:noFill/>
          <a:ln/>
        </p:spPr>
        <p:txBody>
          <a:bodyPr wrap="square" lIns="0" tIns="0" rIns="0" bIns="0" rtlCol="0" anchor="ctr"/>
          <a:lstStyle/>
          <a:p>
            <a:pPr indent="0" marL="0">
              <a:buNone/>
            </a:pPr>
            <a:r>
              <a:rPr lang="en-US" sz="1000" b="1" spc="300" kern="0" dirty="0">
                <a:solidFill>
                  <a:srgbClr val="7EE787"/>
                </a:solidFill>
                <a:latin typeface="JetBrains Mono" pitchFamily="34" charset="0"/>
                <a:ea typeface="JetBrains Mono" pitchFamily="34" charset="-122"/>
                <a:cs typeface="JetBrains Mono" pitchFamily="34" charset="-120"/>
              </a:rPr>
              <a:t>AFTER</a:t>
            </a:r>
            <a:endParaRPr lang="en-US" sz="1000" dirty="0"/>
          </a:p>
        </p:txBody>
      </p:sp>
      <p:sp>
        <p:nvSpPr>
          <p:cNvPr id="24" name="Text 22"/>
          <p:cNvSpPr/>
          <p:nvPr/>
        </p:nvSpPr>
        <p:spPr>
          <a:xfrm>
            <a:off x="6553048" y="416052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HOST</a:t>
            </a:r>
            <a:endParaRPr lang="en-US" sz="900" dirty="0"/>
          </a:p>
        </p:txBody>
      </p:sp>
      <p:sp>
        <p:nvSpPr>
          <p:cNvPr id="25" name="Text 23"/>
          <p:cNvSpPr/>
          <p:nvPr/>
        </p:nvSpPr>
        <p:spPr>
          <a:xfrm>
            <a:off x="7833208" y="4160520"/>
            <a:ext cx="3352648" cy="256032"/>
          </a:xfrm>
          <a:prstGeom prst="rect">
            <a:avLst/>
          </a:prstGeom>
          <a:noFill/>
          <a:ln/>
        </p:spPr>
        <p:txBody>
          <a:bodyPr wrap="square" lIns="0" tIns="0" rIns="0" bIns="0" rtlCol="0" anchor="ctr"/>
          <a:lstStyle/>
          <a:p>
            <a:pPr indent="0" marL="0">
              <a:buNone/>
            </a:pPr>
            <a:r>
              <a:rPr lang="en-US" sz="1100" dirty="0">
                <a:solidFill>
                  <a:srgbClr val="F2F4F7"/>
                </a:solidFill>
                <a:latin typeface="Inter" pitchFamily="34" charset="0"/>
                <a:ea typeface="Inter" pitchFamily="34" charset="-122"/>
                <a:cs typeface="Inter" pitchFamily="34" charset="-120"/>
              </a:rPr>
              <a:t>Vercel (auto-deploy from main)</a:t>
            </a:r>
            <a:endParaRPr lang="en-US" sz="1100" dirty="0"/>
          </a:p>
        </p:txBody>
      </p:sp>
      <p:sp>
        <p:nvSpPr>
          <p:cNvPr id="26" name="Text 24"/>
          <p:cNvSpPr/>
          <p:nvPr/>
        </p:nvSpPr>
        <p:spPr>
          <a:xfrm>
            <a:off x="6553048" y="443484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DEPLOY</a:t>
            </a:r>
            <a:endParaRPr lang="en-US" sz="900" dirty="0"/>
          </a:p>
        </p:txBody>
      </p:sp>
      <p:sp>
        <p:nvSpPr>
          <p:cNvPr id="27" name="Text 25"/>
          <p:cNvSpPr/>
          <p:nvPr/>
        </p:nvSpPr>
        <p:spPr>
          <a:xfrm>
            <a:off x="7833208" y="4434840"/>
            <a:ext cx="3352648" cy="256032"/>
          </a:xfrm>
          <a:prstGeom prst="rect">
            <a:avLst/>
          </a:prstGeom>
          <a:noFill/>
          <a:ln/>
        </p:spPr>
        <p:txBody>
          <a:bodyPr wrap="square" lIns="0" tIns="0" rIns="0" bIns="0" rtlCol="0" anchor="ctr"/>
          <a:lstStyle/>
          <a:p>
            <a:pPr indent="0" marL="0">
              <a:buNone/>
            </a:pPr>
            <a:r>
              <a:rPr lang="en-US" sz="1100" dirty="0">
                <a:solidFill>
                  <a:srgbClr val="F2F4F7"/>
                </a:solidFill>
                <a:latin typeface="Inter" pitchFamily="34" charset="0"/>
                <a:ea typeface="Inter" pitchFamily="34" charset="-122"/>
                <a:cs typeface="Inter" pitchFamily="34" charset="-120"/>
              </a:rPr>
              <a:t>22-second production builds</a:t>
            </a:r>
            <a:endParaRPr lang="en-US" sz="1100" dirty="0"/>
          </a:p>
        </p:txBody>
      </p:sp>
      <p:sp>
        <p:nvSpPr>
          <p:cNvPr id="28" name="Text 26"/>
          <p:cNvSpPr/>
          <p:nvPr/>
        </p:nvSpPr>
        <p:spPr>
          <a:xfrm>
            <a:off x="6553048" y="470916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TLS</a:t>
            </a:r>
            <a:endParaRPr lang="en-US" sz="900" dirty="0"/>
          </a:p>
        </p:txBody>
      </p:sp>
      <p:sp>
        <p:nvSpPr>
          <p:cNvPr id="29" name="Text 27"/>
          <p:cNvSpPr/>
          <p:nvPr/>
        </p:nvSpPr>
        <p:spPr>
          <a:xfrm>
            <a:off x="7833208" y="4709160"/>
            <a:ext cx="3352648" cy="256032"/>
          </a:xfrm>
          <a:prstGeom prst="rect">
            <a:avLst/>
          </a:prstGeom>
          <a:noFill/>
          <a:ln/>
        </p:spPr>
        <p:txBody>
          <a:bodyPr wrap="square" lIns="0" tIns="0" rIns="0" bIns="0" rtlCol="0" anchor="ctr"/>
          <a:lstStyle/>
          <a:p>
            <a:pPr indent="0" marL="0">
              <a:buNone/>
            </a:pPr>
            <a:r>
              <a:rPr lang="en-US" sz="1100" dirty="0">
                <a:solidFill>
                  <a:srgbClr val="F2F4F7"/>
                </a:solidFill>
                <a:latin typeface="Inter" pitchFamily="34" charset="0"/>
                <a:ea typeface="Inter" pitchFamily="34" charset="-122"/>
                <a:cs typeface="Inter" pitchFamily="34" charset="-120"/>
              </a:rPr>
              <a:t>Auto Let’s Encrypt + HSTS</a:t>
            </a:r>
            <a:endParaRPr lang="en-US" sz="1100" dirty="0"/>
          </a:p>
        </p:txBody>
      </p:sp>
      <p:sp>
        <p:nvSpPr>
          <p:cNvPr id="30" name="Text 28"/>
          <p:cNvSpPr/>
          <p:nvPr/>
        </p:nvSpPr>
        <p:spPr>
          <a:xfrm>
            <a:off x="6553048" y="4983480"/>
            <a:ext cx="1280160" cy="256032"/>
          </a:xfrm>
          <a:prstGeom prst="rect">
            <a:avLst/>
          </a:prstGeom>
          <a:noFill/>
          <a:ln/>
        </p:spPr>
        <p:txBody>
          <a:bodyPr wrap="square" lIns="0" tIns="0" rIns="0" bIns="0" rtlCol="0" anchor="ctr"/>
          <a:lstStyle/>
          <a:p>
            <a:pPr indent="0" marL="0">
              <a:buNone/>
            </a:pPr>
            <a:r>
              <a:rPr lang="en-US" sz="900" spc="200" kern="0" dirty="0">
                <a:solidFill>
                  <a:srgbClr val="AFB5BF"/>
                </a:solidFill>
                <a:latin typeface="JetBrains Mono" pitchFamily="34" charset="0"/>
                <a:ea typeface="JetBrains Mono" pitchFamily="34" charset="-122"/>
                <a:cs typeface="JetBrains Mono" pitchFamily="34" charset="-120"/>
              </a:rPr>
              <a:t>EMAIL</a:t>
            </a:r>
            <a:endParaRPr lang="en-US" sz="900" dirty="0"/>
          </a:p>
        </p:txBody>
      </p:sp>
      <p:sp>
        <p:nvSpPr>
          <p:cNvPr id="31" name="Text 29"/>
          <p:cNvSpPr/>
          <p:nvPr/>
        </p:nvSpPr>
        <p:spPr>
          <a:xfrm>
            <a:off x="7833208" y="4983480"/>
            <a:ext cx="3352648" cy="256032"/>
          </a:xfrm>
          <a:prstGeom prst="rect">
            <a:avLst/>
          </a:prstGeom>
          <a:noFill/>
          <a:ln/>
        </p:spPr>
        <p:txBody>
          <a:bodyPr wrap="square" lIns="0" tIns="0" rIns="0" bIns="0" rtlCol="0" anchor="ctr"/>
          <a:lstStyle/>
          <a:p>
            <a:pPr indent="0" marL="0">
              <a:buNone/>
            </a:pPr>
            <a:r>
              <a:rPr lang="en-US" sz="1100" dirty="0">
                <a:solidFill>
                  <a:srgbClr val="F2F4F7"/>
                </a:solidFill>
                <a:latin typeface="Inter" pitchFamily="34" charset="0"/>
                <a:ea typeface="Inter" pitchFamily="34" charset="-122"/>
                <a:cs typeface="Inter" pitchFamily="34" charset="-120"/>
              </a:rPr>
              <a:t>DreamHost (unchanged)</a:t>
            </a:r>
            <a:endParaRPr lang="en-US" sz="1100" dirty="0"/>
          </a:p>
        </p:txBody>
      </p:sp>
      <p:sp>
        <p:nvSpPr>
          <p:cNvPr id="32" name="Shape 30"/>
          <p:cNvSpPr/>
          <p:nvPr/>
        </p:nvSpPr>
        <p:spPr>
          <a:xfrm>
            <a:off x="731520" y="5532120"/>
            <a:ext cx="10728655" cy="0"/>
          </a:xfrm>
          <a:prstGeom prst="line">
            <a:avLst/>
          </a:prstGeom>
          <a:noFill/>
          <a:ln w="9525">
            <a:solidFill>
              <a:srgbClr val="24272E"/>
            </a:solidFill>
            <a:prstDash val="solid"/>
          </a:ln>
        </p:spPr>
      </p:sp>
      <p:sp>
        <p:nvSpPr>
          <p:cNvPr id="33" name="Text 31"/>
          <p:cNvSpPr/>
          <p:nvPr/>
        </p:nvSpPr>
        <p:spPr>
          <a:xfrm>
            <a:off x="731520" y="5623560"/>
            <a:ext cx="10728655" cy="320040"/>
          </a:xfrm>
          <a:prstGeom prst="rect">
            <a:avLst/>
          </a:prstGeom>
          <a:noFill/>
          <a:ln/>
        </p:spPr>
        <p:txBody>
          <a:bodyPr wrap="square" lIns="0" tIns="0" rIns="0" bIns="0" rtlCol="0" anchor="ctr"/>
          <a:lstStyle/>
          <a:p>
            <a:pPr algn="ctr" indent="0" marL="0">
              <a:buNone/>
            </a:pPr>
            <a:r>
              <a:rPr lang="en-US" sz="1100" spc="200" kern="0" dirty="0">
                <a:solidFill>
                  <a:srgbClr val="AFB5BF"/>
                </a:solidFill>
                <a:latin typeface="JetBrains Mono" pitchFamily="34" charset="0"/>
                <a:ea typeface="JetBrains Mono" pitchFamily="34" charset="-122"/>
                <a:cs typeface="JetBrains Mono" pitchFamily="34" charset="-120"/>
              </a:rPr>
              <a:t>DIG  </a:t>
            </a:r>
            <a:pPr algn="ctr" indent="0" marL="0">
              <a:buNone/>
            </a:pPr>
            <a:r>
              <a:rPr lang="en-US" sz="1100" b="1" spc="200" kern="0" dirty="0">
                <a:solidFill>
                  <a:srgbClr val="2DD4BF"/>
                </a:solidFill>
                <a:latin typeface="JetBrains Mono" pitchFamily="34" charset="0"/>
                <a:ea typeface="JetBrains Mono" pitchFamily="34" charset="-122"/>
                <a:cs typeface="JetBrains Mono" pitchFamily="34" charset="-120"/>
              </a:rPr>
              <a:t>A @ 76.76.21.21</a:t>
            </a:r>
            <a:pPr algn="ctr" indent="0" marL="0">
              <a:buNone/>
            </a:pPr>
            <a:r>
              <a:rPr lang="en-US" sz="1100" spc="200" kern="0" dirty="0">
                <a:solidFill>
                  <a:srgbClr val="353A43"/>
                </a:solidFill>
                <a:latin typeface="JetBrains Mono" pitchFamily="34" charset="0"/>
                <a:ea typeface="JetBrains Mono" pitchFamily="34" charset="-122"/>
                <a:cs typeface="JetBrains Mono" pitchFamily="34" charset="-120"/>
              </a:rPr>
              <a:t>   ·   </a:t>
            </a:r>
            <a:pPr algn="ctr" indent="0" marL="0">
              <a:buNone/>
            </a:pPr>
            <a:r>
              <a:rPr lang="en-US" sz="1100" b="1" spc="200" kern="0" dirty="0">
                <a:solidFill>
                  <a:srgbClr val="2DD4BF"/>
                </a:solidFill>
                <a:latin typeface="JetBrains Mono" pitchFamily="34" charset="0"/>
                <a:ea typeface="JetBrains Mono" pitchFamily="34" charset="-122"/>
                <a:cs typeface="JetBrains Mono" pitchFamily="34" charset="-120"/>
              </a:rPr>
              <a:t>A www 76.76.21.21</a:t>
            </a:r>
            <a:pPr algn="ctr" indent="0" marL="0">
              <a:buNone/>
            </a:pPr>
            <a:r>
              <a:rPr lang="en-US" sz="1100" spc="200" kern="0" dirty="0">
                <a:solidFill>
                  <a:srgbClr val="353A43"/>
                </a:solidFill>
                <a:latin typeface="JetBrains Mono" pitchFamily="34" charset="0"/>
                <a:ea typeface="JetBrains Mono" pitchFamily="34" charset="-122"/>
                <a:cs typeface="JetBrains Mono" pitchFamily="34" charset="-120"/>
              </a:rPr>
              <a:t>   ·   </a:t>
            </a:r>
            <a:pPr algn="ctr" indent="0" marL="0">
              <a:buNone/>
            </a:pPr>
            <a:r>
              <a:rPr lang="en-US" sz="1100" b="1" spc="200" kern="0" dirty="0">
                <a:solidFill>
                  <a:srgbClr val="7EE787"/>
                </a:solidFill>
                <a:latin typeface="JetBrains Mono" pitchFamily="34" charset="0"/>
                <a:ea typeface="JetBrains Mono" pitchFamily="34" charset="-122"/>
                <a:cs typeface="JetBrains Mono" pitchFamily="34" charset="-120"/>
              </a:rPr>
              <a:t>HTTP/2 200</a:t>
            </a:r>
            <a:pPr algn="ctr" indent="0" marL="0">
              <a:buNone/>
            </a:pPr>
            <a:r>
              <a:rPr lang="en-US" sz="1100" spc="200" kern="0" dirty="0">
                <a:solidFill>
                  <a:srgbClr val="353A43"/>
                </a:solidFill>
                <a:latin typeface="JetBrains Mono" pitchFamily="34" charset="0"/>
                <a:ea typeface="JetBrains Mono" pitchFamily="34" charset="-122"/>
                <a:cs typeface="JetBrains Mono" pitchFamily="34" charset="-120"/>
              </a:rPr>
              <a:t>   ·   </a:t>
            </a:r>
            <a:pPr algn="ctr" indent="0" marL="0">
              <a:buNone/>
            </a:pPr>
            <a:r>
              <a:rPr lang="en-US" sz="1100" spc="200" kern="0" dirty="0">
                <a:solidFill>
                  <a:srgbClr val="AFB5BF"/>
                </a:solidFill>
                <a:latin typeface="JetBrains Mono" pitchFamily="34" charset="0"/>
                <a:ea typeface="JetBrains Mono" pitchFamily="34" charset="-122"/>
                <a:cs typeface="JetBrains Mono" pitchFamily="34" charset="-120"/>
              </a:rPr>
              <a:t>ZERO-DOWNTIME MIGRATION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10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05 · RESPONSIVE PASS</a:t>
            </a:r>
            <a:endParaRPr lang="en-US" sz="1000" dirty="0"/>
          </a:p>
        </p:txBody>
      </p:sp>
      <p:sp>
        <p:nvSpPr>
          <p:cNvPr id="10" name="Text 8"/>
          <p:cNvSpPr/>
          <p:nvPr/>
        </p:nvSpPr>
        <p:spPr>
          <a:xfrm>
            <a:off x="731520" y="1463040"/>
            <a:ext cx="9144000" cy="1463040"/>
          </a:xfrm>
          <a:prstGeom prst="rect">
            <a:avLst/>
          </a:prstGeom>
          <a:noFill/>
          <a:ln/>
        </p:spPr>
        <p:txBody>
          <a:bodyPr wrap="square" lIns="0" tIns="0" rIns="0" bIns="0" rtlCol="0" anchor="t"/>
          <a:lstStyle/>
          <a:p>
            <a:pPr algn="l" indent="0" marL="0">
              <a:buNone/>
            </a:pPr>
            <a:r>
              <a:rPr lang="en-US" sz="3600" b="1" spc="-50" kern="0" dirty="0">
                <a:solidFill>
                  <a:srgbClr val="F2F4F7"/>
                </a:solidFill>
                <a:latin typeface="Inter" pitchFamily="34" charset="0"/>
                <a:ea typeface="Inter" pitchFamily="34" charset="-122"/>
                <a:cs typeface="Inter" pitchFamily="34" charset="-120"/>
              </a:rPr>
              <a:t>Mobile-first, respected.</a:t>
            </a:r>
            <a:endParaRPr lang="en-US" sz="3600" dirty="0"/>
          </a:p>
        </p:txBody>
      </p:sp>
      <p:pic>
        <p:nvPicPr>
          <p:cNvPr id="11" name="Image 0" descr="/Users/Eliel/Projects/surfvikings/docs/screenshots/landing-mobile-hero.png">    </p:cNvPr>
          <p:cNvPicPr>
            <a:picLocks noChangeAspect="1"/>
          </p:cNvPicPr>
          <p:nvPr/>
        </p:nvPicPr>
        <p:blipFill>
          <a:blip r:embed="rId1"/>
          <a:stretch>
            <a:fillRect/>
          </a:stretch>
        </p:blipFill>
        <p:spPr>
          <a:xfrm>
            <a:off x="3452459" y="2103120"/>
            <a:ext cx="1518419" cy="3291840"/>
          </a:xfrm>
          <a:prstGeom prst="rect">
            <a:avLst/>
          </a:prstGeom>
        </p:spPr>
      </p:pic>
      <p:sp>
        <p:nvSpPr>
          <p:cNvPr id="12" name="Text 9"/>
          <p:cNvSpPr/>
          <p:nvPr/>
        </p:nvSpPr>
        <p:spPr>
          <a:xfrm>
            <a:off x="3178139" y="5623560"/>
            <a:ext cx="2067059" cy="502920"/>
          </a:xfrm>
          <a:prstGeom prst="rect">
            <a:avLst/>
          </a:prstGeom>
          <a:noFill/>
          <a:ln/>
        </p:spPr>
        <p:txBody>
          <a:bodyPr wrap="square" lIns="0" tIns="0" rIns="0" bIns="0" rtlCol="0" anchor="t"/>
          <a:lstStyle/>
          <a:p>
            <a:pPr algn="ctr" indent="0" marL="0">
              <a:lnSpc>
                <a:spcPct val="130000"/>
              </a:lnSpc>
              <a:buNone/>
            </a:pPr>
            <a:r>
              <a:rPr lang="en-US" sz="1000" dirty="0">
                <a:solidFill>
                  <a:srgbClr val="AFB5BF"/>
                </a:solidFill>
                <a:latin typeface="Inter" pitchFamily="34" charset="0"/>
                <a:ea typeface="Inter" pitchFamily="34" charset="-122"/>
                <a:cs typeface="Inter" pitchFamily="34" charset="-120"/>
              </a:rPr>
              <a:t>Stacked hero with visible wordmark and iOS safe-area padding</a:t>
            </a:r>
            <a:endParaRPr lang="en-US" sz="1000" dirty="0"/>
          </a:p>
        </p:txBody>
      </p:sp>
      <p:pic>
        <p:nvPicPr>
          <p:cNvPr id="13" name="Image 1" descr="/Users/Eliel/Projects/surfvikings/docs/screenshots/landing-mobile-feat.png">    </p:cNvPr>
          <p:cNvPicPr>
            <a:picLocks noChangeAspect="1"/>
          </p:cNvPicPr>
          <p:nvPr/>
        </p:nvPicPr>
        <p:blipFill>
          <a:blip r:embed="rId2"/>
          <a:stretch>
            <a:fillRect/>
          </a:stretch>
        </p:blipFill>
        <p:spPr>
          <a:xfrm>
            <a:off x="5336638" y="2103120"/>
            <a:ext cx="1518419" cy="3291840"/>
          </a:xfrm>
          <a:prstGeom prst="rect">
            <a:avLst/>
          </a:prstGeom>
        </p:spPr>
      </p:pic>
      <p:sp>
        <p:nvSpPr>
          <p:cNvPr id="14" name="Text 10"/>
          <p:cNvSpPr/>
          <p:nvPr/>
        </p:nvSpPr>
        <p:spPr>
          <a:xfrm>
            <a:off x="5062318" y="5623560"/>
            <a:ext cx="2067059" cy="502920"/>
          </a:xfrm>
          <a:prstGeom prst="rect">
            <a:avLst/>
          </a:prstGeom>
          <a:noFill/>
          <a:ln/>
        </p:spPr>
        <p:txBody>
          <a:bodyPr wrap="square" lIns="0" tIns="0" rIns="0" bIns="0" rtlCol="0" anchor="t"/>
          <a:lstStyle/>
          <a:p>
            <a:pPr algn="ctr" indent="0" marL="0">
              <a:lnSpc>
                <a:spcPct val="130000"/>
              </a:lnSpc>
              <a:buNone/>
            </a:pPr>
            <a:r>
              <a:rPr lang="en-US" sz="1000" dirty="0">
                <a:solidFill>
                  <a:srgbClr val="AFB5BF"/>
                </a:solidFill>
                <a:latin typeface="Inter" pitchFamily="34" charset="0"/>
                <a:ea typeface="Inter" pitchFamily="34" charset="-122"/>
                <a:cs typeface="Inter" pitchFamily="34" charset="-120"/>
              </a:rPr>
              <a:t>Halved hero-to-headline gap with stacked feature section</a:t>
            </a:r>
            <a:endParaRPr lang="en-US" sz="1000" dirty="0"/>
          </a:p>
        </p:txBody>
      </p:sp>
      <p:pic>
        <p:nvPicPr>
          <p:cNvPr id="15" name="Image 2" descr="/Users/Eliel/Projects/surfvikings/docs/screenshots/landing-mobile-foot.png">    </p:cNvPr>
          <p:cNvPicPr>
            <a:picLocks noChangeAspect="1"/>
          </p:cNvPicPr>
          <p:nvPr/>
        </p:nvPicPr>
        <p:blipFill>
          <a:blip r:embed="rId3"/>
          <a:stretch>
            <a:fillRect/>
          </a:stretch>
        </p:blipFill>
        <p:spPr>
          <a:xfrm>
            <a:off x="7220817" y="2103120"/>
            <a:ext cx="1518419" cy="3291840"/>
          </a:xfrm>
          <a:prstGeom prst="rect">
            <a:avLst/>
          </a:prstGeom>
        </p:spPr>
      </p:pic>
      <p:sp>
        <p:nvSpPr>
          <p:cNvPr id="16" name="Text 11"/>
          <p:cNvSpPr/>
          <p:nvPr/>
        </p:nvSpPr>
        <p:spPr>
          <a:xfrm>
            <a:off x="6946497" y="5623560"/>
            <a:ext cx="2067059" cy="502920"/>
          </a:xfrm>
          <a:prstGeom prst="rect">
            <a:avLst/>
          </a:prstGeom>
          <a:noFill/>
          <a:ln/>
        </p:spPr>
        <p:txBody>
          <a:bodyPr wrap="square" lIns="0" tIns="0" rIns="0" bIns="0" rtlCol="0" anchor="t"/>
          <a:lstStyle/>
          <a:p>
            <a:pPr algn="ctr" indent="0" marL="0">
              <a:lnSpc>
                <a:spcPct val="130000"/>
              </a:lnSpc>
              <a:buNone/>
            </a:pPr>
            <a:r>
              <a:rPr lang="en-US" sz="1000" dirty="0">
                <a:solidFill>
                  <a:srgbClr val="AFB5BF"/>
                </a:solidFill>
                <a:latin typeface="Inter" pitchFamily="34" charset="0"/>
                <a:ea typeface="Inter" pitchFamily="34" charset="-122"/>
                <a:cs typeface="Inter" pitchFamily="34" charset="-120"/>
              </a:rPr>
              <a:t>Single-column footer  —  no more horizontal overflow</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11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ARC 06 · DASHBOARD</a:t>
            </a:r>
            <a:endParaRPr lang="en-US" sz="1000" dirty="0"/>
          </a:p>
        </p:txBody>
      </p:sp>
      <p:sp>
        <p:nvSpPr>
          <p:cNvPr id="10" name="Text 8"/>
          <p:cNvSpPr/>
          <p:nvPr/>
        </p:nvSpPr>
        <p:spPr>
          <a:xfrm>
            <a:off x="731520" y="1463040"/>
            <a:ext cx="7315200" cy="2011680"/>
          </a:xfrm>
          <a:prstGeom prst="rect">
            <a:avLst/>
          </a:prstGeom>
          <a:noFill/>
          <a:ln/>
        </p:spPr>
        <p:txBody>
          <a:bodyPr wrap="square" lIns="0" tIns="0" rIns="0" bIns="0" rtlCol="0" anchor="t"/>
          <a:lstStyle/>
          <a:p>
            <a:pPr algn="l" indent="0" marL="0">
              <a:buNone/>
            </a:pPr>
            <a:r>
              <a:rPr lang="en-US" sz="3800" b="1" spc="-50" kern="0" dirty="0">
                <a:solidFill>
                  <a:srgbClr val="F2F4F7"/>
                </a:solidFill>
                <a:latin typeface="Inter" pitchFamily="34" charset="0"/>
                <a:ea typeface="Inter" pitchFamily="34" charset="-122"/>
                <a:cs typeface="Inter" pitchFamily="34" charset="-120"/>
              </a:rPr>
              <a:t>Platform affordances</a:t>
            </a:r>
            <a:endParaRPr lang="en-US" sz="3800" dirty="0"/>
          </a:p>
          <a:p>
            <a:pPr algn="l" indent="0" marL="0">
              <a:buNone/>
            </a:pPr>
            <a:r>
              <a:rPr lang="en-US" sz="3800" b="1" spc="-50" kern="0" dirty="0">
                <a:solidFill>
                  <a:srgbClr val="F2F4F7"/>
                </a:solidFill>
                <a:latin typeface="Inter" pitchFamily="34" charset="0"/>
                <a:ea typeface="Inter" pitchFamily="34" charset="-122"/>
                <a:cs typeface="Inter" pitchFamily="34" charset="-120"/>
              </a:rPr>
              <a:t>over platform APIs.</a:t>
            </a:r>
            <a:endParaRPr lang="en-US" sz="3800" dirty="0"/>
          </a:p>
        </p:txBody>
      </p:sp>
      <p:sp>
        <p:nvSpPr>
          <p:cNvPr id="11" name="Text 9"/>
          <p:cNvSpPr/>
          <p:nvPr/>
        </p:nvSpPr>
        <p:spPr>
          <a:xfrm>
            <a:off x="731520" y="3657600"/>
            <a:ext cx="6858000" cy="137160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The header was hardcoded copy left over from a static mock. Shipped in two commits: first a live clock, time-aware greeting, localStorage-backed name and location, real buoy air temp and top-spot wind. Then the bug: iOS silently suppresses window.prompt() in standalone PWA mode.</a:t>
            </a:r>
            <a:endParaRPr lang="en-US" sz="1400" dirty="0"/>
          </a:p>
        </p:txBody>
      </p:sp>
      <p:sp>
        <p:nvSpPr>
          <p:cNvPr id="12" name="Text 10"/>
          <p:cNvSpPr/>
          <p:nvPr/>
        </p:nvSpPr>
        <p:spPr>
          <a:xfrm>
            <a:off x="731520" y="5120640"/>
            <a:ext cx="6858000" cy="1188720"/>
          </a:xfrm>
          <a:prstGeom prst="rect">
            <a:avLst/>
          </a:prstGeom>
          <a:noFill/>
          <a:ln/>
        </p:spPr>
        <p:txBody>
          <a:bodyPr wrap="square" lIns="0" tIns="0" rIns="0" bIns="0" rtlCol="0" anchor="t"/>
          <a:lstStyle/>
          <a:p>
            <a:pPr algn="l" indent="0" marL="0">
              <a:spcAft>
                <a:spcPts val="800"/>
              </a:spcAft>
              <a:buNone/>
            </a:pPr>
            <a:r>
              <a:rPr lang="en-US" sz="1400" dirty="0">
                <a:solidFill>
                  <a:srgbClr val="C4CAD3"/>
                </a:solidFill>
                <a:latin typeface="Inter" pitchFamily="34" charset="0"/>
                <a:ea typeface="Inter" pitchFamily="34" charset="-122"/>
                <a:cs typeface="Inter" pitchFamily="34" charset="-120"/>
              </a:rPr>
              <a:t>The fix wasn’t feature-detection — it was inline editing. An &lt;input&gt; swap replaces the prompt entirely, works identically in browser, PWA, and in-app WebView, and handles iOS keyboard niceties: enterKeyHint="done", autoCorrect="off", select-on-focus.</a:t>
            </a:r>
            <a:endParaRPr lang="en-US" sz="1400" dirty="0"/>
          </a:p>
        </p:txBody>
      </p:sp>
      <p:pic>
        <p:nvPicPr>
          <p:cNvPr id="13" name="Image 0" descr="/Users/Eliel/Projects/surfvikings/docs/screenshots/dashboard.png">    </p:cNvPr>
          <p:cNvPicPr>
            <a:picLocks noChangeAspect="1"/>
          </p:cNvPicPr>
          <p:nvPr/>
        </p:nvPicPr>
        <p:blipFill>
          <a:blip r:embed="rId1"/>
          <a:stretch>
            <a:fillRect/>
          </a:stretch>
        </p:blipFill>
        <p:spPr>
          <a:xfrm>
            <a:off x="9210558" y="1280160"/>
            <a:ext cx="2066737" cy="4480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12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CROSS-CUTTING</a:t>
            </a:r>
            <a:endParaRPr lang="en-US" sz="1000" dirty="0"/>
          </a:p>
        </p:txBody>
      </p:sp>
      <p:sp>
        <p:nvSpPr>
          <p:cNvPr id="10" name="Text 8"/>
          <p:cNvSpPr/>
          <p:nvPr/>
        </p:nvSpPr>
        <p:spPr>
          <a:xfrm>
            <a:off x="731520" y="1463040"/>
            <a:ext cx="9144000" cy="1463040"/>
          </a:xfrm>
          <a:prstGeom prst="rect">
            <a:avLst/>
          </a:prstGeom>
          <a:noFill/>
          <a:ln/>
        </p:spPr>
        <p:txBody>
          <a:bodyPr wrap="square" lIns="0" tIns="0" rIns="0" bIns="0" rtlCol="0" anchor="t"/>
          <a:lstStyle/>
          <a:p>
            <a:pPr algn="l" indent="0" marL="0">
              <a:buNone/>
            </a:pPr>
            <a:r>
              <a:rPr lang="en-US" sz="4000" b="1" spc="-50" kern="0" dirty="0">
                <a:solidFill>
                  <a:srgbClr val="F2F4F7"/>
                </a:solidFill>
                <a:latin typeface="Inter" pitchFamily="34" charset="0"/>
                <a:ea typeface="Inter" pitchFamily="34" charset="-122"/>
                <a:cs typeface="Inter" pitchFamily="34" charset="-120"/>
              </a:rPr>
              <a:t>Engineering principles.</a:t>
            </a:r>
            <a:endParaRPr lang="en-US" sz="4000" dirty="0"/>
          </a:p>
        </p:txBody>
      </p:sp>
      <p:sp>
        <p:nvSpPr>
          <p:cNvPr id="11" name="Text 9"/>
          <p:cNvSpPr/>
          <p:nvPr/>
        </p:nvSpPr>
        <p:spPr>
          <a:xfrm>
            <a:off x="731520" y="274320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01</a:t>
            </a:r>
            <a:endParaRPr lang="en-US" sz="2200" dirty="0"/>
          </a:p>
        </p:txBody>
      </p:sp>
      <p:sp>
        <p:nvSpPr>
          <p:cNvPr id="12" name="Text 10"/>
          <p:cNvSpPr/>
          <p:nvPr/>
        </p:nvSpPr>
        <p:spPr>
          <a:xfrm>
            <a:off x="1280160" y="272491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Model the domain before writing the UI</a:t>
            </a:r>
            <a:endParaRPr lang="en-US" sz="1250" dirty="0"/>
          </a:p>
        </p:txBody>
      </p:sp>
      <p:sp>
        <p:nvSpPr>
          <p:cNvPr id="13" name="Text 11"/>
          <p:cNvSpPr/>
          <p:nvPr/>
        </p:nvSpPr>
        <p:spPr>
          <a:xfrm>
            <a:off x="1280160" y="303580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Types exist before components render them</a:t>
            </a:r>
            <a:endParaRPr lang="en-US" sz="1050" dirty="0"/>
          </a:p>
        </p:txBody>
      </p:sp>
      <p:sp>
        <p:nvSpPr>
          <p:cNvPr id="14" name="Text 12"/>
          <p:cNvSpPr/>
          <p:nvPr/>
        </p:nvSpPr>
        <p:spPr>
          <a:xfrm>
            <a:off x="6324448" y="274320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02</a:t>
            </a:r>
            <a:endParaRPr lang="en-US" sz="2200" dirty="0"/>
          </a:p>
        </p:txBody>
      </p:sp>
      <p:sp>
        <p:nvSpPr>
          <p:cNvPr id="15" name="Text 13"/>
          <p:cNvSpPr/>
          <p:nvPr/>
        </p:nvSpPr>
        <p:spPr>
          <a:xfrm>
            <a:off x="6873088" y="272491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Graceful degradation by default</a:t>
            </a:r>
            <a:endParaRPr lang="en-US" sz="1250" dirty="0"/>
          </a:p>
        </p:txBody>
      </p:sp>
      <p:sp>
        <p:nvSpPr>
          <p:cNvPr id="16" name="Text 14"/>
          <p:cNvSpPr/>
          <p:nvPr/>
        </p:nvSpPr>
        <p:spPr>
          <a:xfrm>
            <a:off x="6873088" y="303580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Three-state rendering never leaves a spinner</a:t>
            </a:r>
            <a:endParaRPr lang="en-US" sz="1050" dirty="0"/>
          </a:p>
        </p:txBody>
      </p:sp>
      <p:sp>
        <p:nvSpPr>
          <p:cNvPr id="17" name="Text 15"/>
          <p:cNvSpPr/>
          <p:nvPr/>
        </p:nvSpPr>
        <p:spPr>
          <a:xfrm>
            <a:off x="731520" y="361188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03</a:t>
            </a:r>
            <a:endParaRPr lang="en-US" sz="2200" dirty="0"/>
          </a:p>
        </p:txBody>
      </p:sp>
      <p:sp>
        <p:nvSpPr>
          <p:cNvPr id="18" name="Text 16"/>
          <p:cNvSpPr/>
          <p:nvPr/>
        </p:nvSpPr>
        <p:spPr>
          <a:xfrm>
            <a:off x="1280160" y="359359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Color conveys quality, not state</a:t>
            </a:r>
            <a:endParaRPr lang="en-US" sz="1250" dirty="0"/>
          </a:p>
        </p:txBody>
      </p:sp>
      <p:sp>
        <p:nvSpPr>
          <p:cNvPr id="19" name="Text 17"/>
          <p:cNvSpPr/>
          <p:nvPr/>
        </p:nvSpPr>
        <p:spPr>
          <a:xfrm>
            <a:off x="1280160" y="390448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7-tier palette beats red/green stoplight</a:t>
            </a:r>
            <a:endParaRPr lang="en-US" sz="1050" dirty="0"/>
          </a:p>
        </p:txBody>
      </p:sp>
      <p:sp>
        <p:nvSpPr>
          <p:cNvPr id="20" name="Text 18"/>
          <p:cNvSpPr/>
          <p:nvPr/>
        </p:nvSpPr>
        <p:spPr>
          <a:xfrm>
            <a:off x="6324448" y="361188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04</a:t>
            </a:r>
            <a:endParaRPr lang="en-US" sz="2200" dirty="0"/>
          </a:p>
        </p:txBody>
      </p:sp>
      <p:sp>
        <p:nvSpPr>
          <p:cNvPr id="21" name="Text 19"/>
          <p:cNvSpPr/>
          <p:nvPr/>
        </p:nvSpPr>
        <p:spPr>
          <a:xfrm>
            <a:off x="6873088" y="359359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Route through what the platform trusts</a:t>
            </a:r>
            <a:endParaRPr lang="en-US" sz="1250" dirty="0"/>
          </a:p>
        </p:txBody>
      </p:sp>
      <p:sp>
        <p:nvSpPr>
          <p:cNvPr id="22" name="Text 20"/>
          <p:cNvSpPr/>
          <p:nvPr/>
        </p:nvSpPr>
        <p:spPr>
          <a:xfrm>
            <a:off x="6873088" y="390448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Cloudflare bypass via real Chromium, not solving</a:t>
            </a:r>
            <a:endParaRPr lang="en-US" sz="1050" dirty="0"/>
          </a:p>
        </p:txBody>
      </p:sp>
      <p:sp>
        <p:nvSpPr>
          <p:cNvPr id="23" name="Text 21"/>
          <p:cNvSpPr/>
          <p:nvPr/>
        </p:nvSpPr>
        <p:spPr>
          <a:xfrm>
            <a:off x="731520" y="448056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05</a:t>
            </a:r>
            <a:endParaRPr lang="en-US" sz="2200" dirty="0"/>
          </a:p>
        </p:txBody>
      </p:sp>
      <p:sp>
        <p:nvSpPr>
          <p:cNvPr id="24" name="Text 22"/>
          <p:cNvSpPr/>
          <p:nvPr/>
        </p:nvSpPr>
        <p:spPr>
          <a:xfrm>
            <a:off x="1280160" y="446227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Decouple orthogonal concerns</a:t>
            </a:r>
            <a:endParaRPr lang="en-US" sz="1250" dirty="0"/>
          </a:p>
        </p:txBody>
      </p:sp>
      <p:sp>
        <p:nvSpPr>
          <p:cNvPr id="25" name="Text 23"/>
          <p:cNvSpPr/>
          <p:nvPr/>
        </p:nvSpPr>
        <p:spPr>
          <a:xfrm>
            <a:off x="1280160" y="477316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Web hosting and email are different services; DNS is the seam</a:t>
            </a:r>
            <a:endParaRPr lang="en-US" sz="1050" dirty="0"/>
          </a:p>
        </p:txBody>
      </p:sp>
      <p:sp>
        <p:nvSpPr>
          <p:cNvPr id="26" name="Text 24"/>
          <p:cNvSpPr/>
          <p:nvPr/>
        </p:nvSpPr>
        <p:spPr>
          <a:xfrm>
            <a:off x="6324448" y="448056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06</a:t>
            </a:r>
            <a:endParaRPr lang="en-US" sz="2200" dirty="0"/>
          </a:p>
        </p:txBody>
      </p:sp>
      <p:sp>
        <p:nvSpPr>
          <p:cNvPr id="27" name="Text 25"/>
          <p:cNvSpPr/>
          <p:nvPr/>
        </p:nvSpPr>
        <p:spPr>
          <a:xfrm>
            <a:off x="6873088" y="446227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Platform affordances over platform APIs</a:t>
            </a:r>
            <a:endParaRPr lang="en-US" sz="1250" dirty="0"/>
          </a:p>
        </p:txBody>
      </p:sp>
      <p:sp>
        <p:nvSpPr>
          <p:cNvPr id="28" name="Text 26"/>
          <p:cNvSpPr/>
          <p:nvPr/>
        </p:nvSpPr>
        <p:spPr>
          <a:xfrm>
            <a:off x="6873088" y="477316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Inline input beats window.prompt() on every target</a:t>
            </a:r>
            <a:endParaRPr lang="en-US" sz="1050" dirty="0"/>
          </a:p>
        </p:txBody>
      </p:sp>
      <p:sp>
        <p:nvSpPr>
          <p:cNvPr id="29" name="Text 27"/>
          <p:cNvSpPr/>
          <p:nvPr/>
        </p:nvSpPr>
        <p:spPr>
          <a:xfrm>
            <a:off x="731520" y="534924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07</a:t>
            </a:r>
            <a:endParaRPr lang="en-US" sz="2200" dirty="0"/>
          </a:p>
        </p:txBody>
      </p:sp>
      <p:sp>
        <p:nvSpPr>
          <p:cNvPr id="30" name="Text 28"/>
          <p:cNvSpPr/>
          <p:nvPr/>
        </p:nvSpPr>
        <p:spPr>
          <a:xfrm>
            <a:off x="1280160" y="533095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Editorial systems, not editorial content</a:t>
            </a:r>
            <a:endParaRPr lang="en-US" sz="1250" dirty="0"/>
          </a:p>
        </p:txBody>
      </p:sp>
      <p:sp>
        <p:nvSpPr>
          <p:cNvPr id="31" name="Text 29"/>
          <p:cNvSpPr/>
          <p:nvPr/>
        </p:nvSpPr>
        <p:spPr>
          <a:xfrm>
            <a:off x="1280160" y="564184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Content-as-code survives scraper re-runs</a:t>
            </a:r>
            <a:endParaRPr lang="en-US" sz="1050" dirty="0"/>
          </a:p>
        </p:txBody>
      </p:sp>
      <p:sp>
        <p:nvSpPr>
          <p:cNvPr id="32" name="Text 30"/>
          <p:cNvSpPr/>
          <p:nvPr/>
        </p:nvSpPr>
        <p:spPr>
          <a:xfrm>
            <a:off x="6324448" y="5349240"/>
            <a:ext cx="502920" cy="365760"/>
          </a:xfrm>
          <a:prstGeom prst="rect">
            <a:avLst/>
          </a:prstGeom>
          <a:noFill/>
          <a:ln/>
        </p:spPr>
        <p:txBody>
          <a:bodyPr wrap="square" lIns="0" tIns="0" rIns="0" bIns="0" rtlCol="0" anchor="ctr"/>
          <a:lstStyle/>
          <a:p>
            <a:pPr indent="0" marL="0">
              <a:buNone/>
            </a:pPr>
            <a:r>
              <a:rPr lang="en-US" sz="2200" b="1" spc="100" kern="0" dirty="0">
                <a:solidFill>
                  <a:srgbClr val="2DD4BF"/>
                </a:solidFill>
                <a:latin typeface="JetBrains Mono" pitchFamily="34" charset="0"/>
                <a:ea typeface="JetBrains Mono" pitchFamily="34" charset="-122"/>
                <a:cs typeface="JetBrains Mono" pitchFamily="34" charset="-120"/>
              </a:rPr>
              <a:t>08</a:t>
            </a:r>
            <a:endParaRPr lang="en-US" sz="2200" dirty="0"/>
          </a:p>
        </p:txBody>
      </p:sp>
      <p:sp>
        <p:nvSpPr>
          <p:cNvPr id="33" name="Text 31"/>
          <p:cNvSpPr/>
          <p:nvPr/>
        </p:nvSpPr>
        <p:spPr>
          <a:xfrm>
            <a:off x="6873088" y="5330952"/>
            <a:ext cx="4587088" cy="274320"/>
          </a:xfrm>
          <a:prstGeom prst="rect">
            <a:avLst/>
          </a:prstGeom>
          <a:noFill/>
          <a:ln/>
        </p:spPr>
        <p:txBody>
          <a:bodyPr wrap="square" lIns="0" tIns="0" rIns="0" bIns="0" rtlCol="0" anchor="ctr"/>
          <a:lstStyle/>
          <a:p>
            <a:pPr indent="0" marL="0">
              <a:buNone/>
            </a:pPr>
            <a:r>
              <a:rPr lang="en-US" sz="1250" b="1" dirty="0">
                <a:solidFill>
                  <a:srgbClr val="F2F4F7"/>
                </a:solidFill>
                <a:latin typeface="Inter" pitchFamily="34" charset="0"/>
                <a:ea typeface="Inter" pitchFamily="34" charset="-122"/>
                <a:cs typeface="Inter" pitchFamily="34" charset="-120"/>
              </a:rPr>
              <a:t>Iterate in commits, not in branches</a:t>
            </a:r>
            <a:endParaRPr lang="en-US" sz="1250" dirty="0"/>
          </a:p>
        </p:txBody>
      </p:sp>
      <p:sp>
        <p:nvSpPr>
          <p:cNvPr id="34" name="Text 32"/>
          <p:cNvSpPr/>
          <p:nvPr/>
        </p:nvSpPr>
        <p:spPr>
          <a:xfrm>
            <a:off x="6873088" y="5641848"/>
            <a:ext cx="4587088" cy="365760"/>
          </a:xfrm>
          <a:prstGeom prst="rect">
            <a:avLst/>
          </a:prstGeom>
          <a:noFill/>
          <a:ln/>
        </p:spPr>
        <p:txBody>
          <a:bodyPr wrap="square" lIns="0" tIns="0" rIns="0" bIns="0" rtlCol="0" anchor="ctr"/>
          <a:lstStyle/>
          <a:p>
            <a:pPr indent="0" marL="0">
              <a:buNone/>
            </a:pPr>
            <a:r>
              <a:rPr lang="en-US" sz="1050" dirty="0">
                <a:solidFill>
                  <a:srgbClr val="AFB5BF"/>
                </a:solidFill>
                <a:latin typeface="Inter" pitchFamily="34" charset="0"/>
                <a:ea typeface="Inter" pitchFamily="34" charset="-122"/>
                <a:cs typeface="Inter" pitchFamily="34" charset="-120"/>
              </a:rPr>
              <a:t>34 linear commits, every change reversible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13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9728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STACK · SCOPE · OUTCOMES</a:t>
            </a:r>
            <a:endParaRPr lang="en-US" sz="1000" dirty="0"/>
          </a:p>
        </p:txBody>
      </p:sp>
      <p:sp>
        <p:nvSpPr>
          <p:cNvPr id="10" name="Text 8"/>
          <p:cNvSpPr/>
          <p:nvPr/>
        </p:nvSpPr>
        <p:spPr>
          <a:xfrm>
            <a:off x="731520" y="1463040"/>
            <a:ext cx="10972800" cy="1463040"/>
          </a:xfrm>
          <a:prstGeom prst="rect">
            <a:avLst/>
          </a:prstGeom>
          <a:noFill/>
          <a:ln/>
        </p:spPr>
        <p:txBody>
          <a:bodyPr wrap="square" lIns="0" tIns="0" rIns="0" bIns="0" rtlCol="0" anchor="t"/>
          <a:lstStyle/>
          <a:p>
            <a:pPr algn="l" indent="0" marL="0">
              <a:buNone/>
            </a:pPr>
            <a:r>
              <a:rPr lang="en-US" sz="3400" b="1" spc="-50" kern="0" dirty="0">
                <a:solidFill>
                  <a:srgbClr val="F2F4F7"/>
                </a:solidFill>
                <a:latin typeface="Inter" pitchFamily="34" charset="0"/>
                <a:ea typeface="Inter" pitchFamily="34" charset="-122"/>
                <a:cs typeface="Inter" pitchFamily="34" charset="-120"/>
              </a:rPr>
              <a:t>Small surface, opinionated choices.</a:t>
            </a:r>
            <a:endParaRPr lang="en-US" sz="3400" dirty="0"/>
          </a:p>
        </p:txBody>
      </p:sp>
      <p:sp>
        <p:nvSpPr>
          <p:cNvPr id="11" name="Shape 9"/>
          <p:cNvSpPr/>
          <p:nvPr/>
        </p:nvSpPr>
        <p:spPr>
          <a:xfrm>
            <a:off x="731520" y="2651760"/>
            <a:ext cx="2545004" cy="1737360"/>
          </a:xfrm>
          <a:prstGeom prst="rect">
            <a:avLst/>
          </a:prstGeom>
          <a:solidFill>
            <a:srgbClr val="111317"/>
          </a:solidFill>
          <a:ln w="9525">
            <a:solidFill>
              <a:srgbClr val="24272E"/>
            </a:solidFill>
            <a:prstDash val="solid"/>
          </a:ln>
        </p:spPr>
      </p:sp>
      <p:sp>
        <p:nvSpPr>
          <p:cNvPr id="12" name="Shape 10"/>
          <p:cNvSpPr/>
          <p:nvPr/>
        </p:nvSpPr>
        <p:spPr>
          <a:xfrm>
            <a:off x="731520" y="2651760"/>
            <a:ext cx="73152" cy="1737360"/>
          </a:xfrm>
          <a:prstGeom prst="rect">
            <a:avLst/>
          </a:prstGeom>
          <a:solidFill>
            <a:srgbClr val="2DD4BF"/>
          </a:solidFill>
          <a:ln/>
        </p:spPr>
      </p:sp>
      <p:sp>
        <p:nvSpPr>
          <p:cNvPr id="13" name="Text 11"/>
          <p:cNvSpPr/>
          <p:nvPr/>
        </p:nvSpPr>
        <p:spPr>
          <a:xfrm>
            <a:off x="960120" y="2816352"/>
            <a:ext cx="2179244" cy="274320"/>
          </a:xfrm>
          <a:prstGeom prst="rect">
            <a:avLst/>
          </a:prstGeom>
          <a:noFill/>
          <a:ln/>
        </p:spPr>
        <p:txBody>
          <a:bodyPr wrap="square" lIns="0" tIns="0" rIns="0" bIns="0" rtlCol="0" anchor="ctr"/>
          <a:lstStyle/>
          <a:p>
            <a:pPr indent="0" marL="0">
              <a:buNone/>
            </a:pPr>
            <a:r>
              <a:rPr lang="en-US" sz="900" b="1" spc="300" kern="0" dirty="0">
                <a:solidFill>
                  <a:srgbClr val="2DD4BF"/>
                </a:solidFill>
                <a:latin typeface="JetBrains Mono" pitchFamily="34" charset="0"/>
                <a:ea typeface="JetBrains Mono" pitchFamily="34" charset="-122"/>
                <a:cs typeface="JetBrains Mono" pitchFamily="34" charset="-120"/>
              </a:rPr>
              <a:t>FRONTEND</a:t>
            </a:r>
            <a:endParaRPr lang="en-US" sz="900" dirty="0"/>
          </a:p>
        </p:txBody>
      </p:sp>
      <p:sp>
        <p:nvSpPr>
          <p:cNvPr id="14" name="Text 12"/>
          <p:cNvSpPr/>
          <p:nvPr/>
        </p:nvSpPr>
        <p:spPr>
          <a:xfrm>
            <a:off x="960120" y="3200400"/>
            <a:ext cx="2179244" cy="1097280"/>
          </a:xfrm>
          <a:prstGeom prst="rect">
            <a:avLst/>
          </a:prstGeom>
          <a:noFill/>
          <a:ln/>
        </p:spPr>
        <p:txBody>
          <a:bodyPr wrap="square" lIns="0" tIns="0" rIns="0" bIns="0" rtlCol="0" anchor="t"/>
          <a:lstStyle/>
          <a:p>
            <a:pPr indent="0" marL="0">
              <a:lnSpc>
                <a:spcPct val="140000"/>
              </a:lnSpc>
              <a:buNone/>
            </a:pPr>
            <a:r>
              <a:rPr lang="en-US" sz="1200" dirty="0">
                <a:solidFill>
                  <a:srgbClr val="C4CAD3"/>
                </a:solidFill>
                <a:latin typeface="Inter" pitchFamily="34" charset="0"/>
                <a:ea typeface="Inter" pitchFamily="34" charset="-122"/>
                <a:cs typeface="Inter" pitchFamily="34" charset="-120"/>
              </a:rPr>
              <a:t>Vite</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React 18</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TypeScript</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vite-plugin-pwa</a:t>
            </a:r>
            <a:endParaRPr lang="en-US" sz="1200" dirty="0"/>
          </a:p>
        </p:txBody>
      </p:sp>
      <p:sp>
        <p:nvSpPr>
          <p:cNvPr id="15" name="Shape 13"/>
          <p:cNvSpPr/>
          <p:nvPr/>
        </p:nvSpPr>
        <p:spPr>
          <a:xfrm>
            <a:off x="3459404" y="2651760"/>
            <a:ext cx="2545004" cy="1737360"/>
          </a:xfrm>
          <a:prstGeom prst="rect">
            <a:avLst/>
          </a:prstGeom>
          <a:solidFill>
            <a:srgbClr val="111317"/>
          </a:solidFill>
          <a:ln w="9525">
            <a:solidFill>
              <a:srgbClr val="24272E"/>
            </a:solidFill>
            <a:prstDash val="solid"/>
          </a:ln>
        </p:spPr>
      </p:sp>
      <p:sp>
        <p:nvSpPr>
          <p:cNvPr id="16" name="Shape 14"/>
          <p:cNvSpPr/>
          <p:nvPr/>
        </p:nvSpPr>
        <p:spPr>
          <a:xfrm>
            <a:off x="3459404" y="2651760"/>
            <a:ext cx="73152" cy="1737360"/>
          </a:xfrm>
          <a:prstGeom prst="rect">
            <a:avLst/>
          </a:prstGeom>
          <a:solidFill>
            <a:srgbClr val="3FB8FF"/>
          </a:solidFill>
          <a:ln/>
        </p:spPr>
      </p:sp>
      <p:sp>
        <p:nvSpPr>
          <p:cNvPr id="17" name="Text 15"/>
          <p:cNvSpPr/>
          <p:nvPr/>
        </p:nvSpPr>
        <p:spPr>
          <a:xfrm>
            <a:off x="3688004" y="2816352"/>
            <a:ext cx="2179244" cy="274320"/>
          </a:xfrm>
          <a:prstGeom prst="rect">
            <a:avLst/>
          </a:prstGeom>
          <a:noFill/>
          <a:ln/>
        </p:spPr>
        <p:txBody>
          <a:bodyPr wrap="square" lIns="0" tIns="0" rIns="0" bIns="0" rtlCol="0" anchor="ctr"/>
          <a:lstStyle/>
          <a:p>
            <a:pPr indent="0" marL="0">
              <a:buNone/>
            </a:pPr>
            <a:r>
              <a:rPr lang="en-US" sz="900" b="1" spc="300" kern="0" dirty="0">
                <a:solidFill>
                  <a:srgbClr val="3FB8FF"/>
                </a:solidFill>
                <a:latin typeface="JetBrains Mono" pitchFamily="34" charset="0"/>
                <a:ea typeface="JetBrains Mono" pitchFamily="34" charset="-122"/>
                <a:cs typeface="JetBrains Mono" pitchFamily="34" charset="-120"/>
              </a:rPr>
              <a:t>BUILD · TOOLING</a:t>
            </a:r>
            <a:endParaRPr lang="en-US" sz="900" dirty="0"/>
          </a:p>
        </p:txBody>
      </p:sp>
      <p:sp>
        <p:nvSpPr>
          <p:cNvPr id="18" name="Text 16"/>
          <p:cNvSpPr/>
          <p:nvPr/>
        </p:nvSpPr>
        <p:spPr>
          <a:xfrm>
            <a:off x="3688004" y="3200400"/>
            <a:ext cx="2179244" cy="1097280"/>
          </a:xfrm>
          <a:prstGeom prst="rect">
            <a:avLst/>
          </a:prstGeom>
          <a:noFill/>
          <a:ln/>
        </p:spPr>
        <p:txBody>
          <a:bodyPr wrap="square" lIns="0" tIns="0" rIns="0" bIns="0" rtlCol="0" anchor="t"/>
          <a:lstStyle/>
          <a:p>
            <a:pPr indent="0" marL="0">
              <a:lnSpc>
                <a:spcPct val="140000"/>
              </a:lnSpc>
              <a:buNone/>
            </a:pPr>
            <a:r>
              <a:rPr lang="en-US" sz="1200" dirty="0">
                <a:solidFill>
                  <a:srgbClr val="C4CAD3"/>
                </a:solidFill>
                <a:latin typeface="Inter" pitchFamily="34" charset="0"/>
                <a:ea typeface="Inter" pitchFamily="34" charset="-122"/>
                <a:cs typeface="Inter" pitchFamily="34" charset="-120"/>
              </a:rPr>
              <a:t>TypeScript strict</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Playwright</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Sharp</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Node scripts</a:t>
            </a:r>
            <a:endParaRPr lang="en-US" sz="1200" dirty="0"/>
          </a:p>
        </p:txBody>
      </p:sp>
      <p:sp>
        <p:nvSpPr>
          <p:cNvPr id="19" name="Shape 17"/>
          <p:cNvSpPr/>
          <p:nvPr/>
        </p:nvSpPr>
        <p:spPr>
          <a:xfrm>
            <a:off x="6187288" y="2651760"/>
            <a:ext cx="2545004" cy="1737360"/>
          </a:xfrm>
          <a:prstGeom prst="rect">
            <a:avLst/>
          </a:prstGeom>
          <a:solidFill>
            <a:srgbClr val="111317"/>
          </a:solidFill>
          <a:ln w="9525">
            <a:solidFill>
              <a:srgbClr val="24272E"/>
            </a:solidFill>
            <a:prstDash val="solid"/>
          </a:ln>
        </p:spPr>
      </p:sp>
      <p:sp>
        <p:nvSpPr>
          <p:cNvPr id="20" name="Shape 18"/>
          <p:cNvSpPr/>
          <p:nvPr/>
        </p:nvSpPr>
        <p:spPr>
          <a:xfrm>
            <a:off x="6187288" y="2651760"/>
            <a:ext cx="73152" cy="1737360"/>
          </a:xfrm>
          <a:prstGeom prst="rect">
            <a:avLst/>
          </a:prstGeom>
          <a:solidFill>
            <a:srgbClr val="7EE787"/>
          </a:solidFill>
          <a:ln/>
        </p:spPr>
      </p:sp>
      <p:sp>
        <p:nvSpPr>
          <p:cNvPr id="21" name="Text 19"/>
          <p:cNvSpPr/>
          <p:nvPr/>
        </p:nvSpPr>
        <p:spPr>
          <a:xfrm>
            <a:off x="6415888" y="2816352"/>
            <a:ext cx="2179244" cy="274320"/>
          </a:xfrm>
          <a:prstGeom prst="rect">
            <a:avLst/>
          </a:prstGeom>
          <a:noFill/>
          <a:ln/>
        </p:spPr>
        <p:txBody>
          <a:bodyPr wrap="square" lIns="0" tIns="0" rIns="0" bIns="0" rtlCol="0" anchor="ctr"/>
          <a:lstStyle/>
          <a:p>
            <a:pPr indent="0" marL="0">
              <a:buNone/>
            </a:pPr>
            <a:r>
              <a:rPr lang="en-US" sz="900" b="1" spc="300" kern="0" dirty="0">
                <a:solidFill>
                  <a:srgbClr val="7EE787"/>
                </a:solidFill>
                <a:latin typeface="JetBrains Mono" pitchFamily="34" charset="0"/>
                <a:ea typeface="JetBrains Mono" pitchFamily="34" charset="-122"/>
                <a:cs typeface="JetBrains Mono" pitchFamily="34" charset="-120"/>
              </a:rPr>
              <a:t>DATA LAYER</a:t>
            </a:r>
            <a:endParaRPr lang="en-US" sz="900" dirty="0"/>
          </a:p>
        </p:txBody>
      </p:sp>
      <p:sp>
        <p:nvSpPr>
          <p:cNvPr id="22" name="Text 20"/>
          <p:cNvSpPr/>
          <p:nvPr/>
        </p:nvSpPr>
        <p:spPr>
          <a:xfrm>
            <a:off x="6415888" y="3200400"/>
            <a:ext cx="2179244" cy="1097280"/>
          </a:xfrm>
          <a:prstGeom prst="rect">
            <a:avLst/>
          </a:prstGeom>
          <a:noFill/>
          <a:ln/>
        </p:spPr>
        <p:txBody>
          <a:bodyPr wrap="square" lIns="0" tIns="0" rIns="0" bIns="0" rtlCol="0" anchor="t"/>
          <a:lstStyle/>
          <a:p>
            <a:pPr indent="0" marL="0">
              <a:lnSpc>
                <a:spcPct val="140000"/>
              </a:lnSpc>
              <a:buNone/>
            </a:pPr>
            <a:r>
              <a:rPr lang="en-US" sz="1200" dirty="0">
                <a:solidFill>
                  <a:srgbClr val="C4CAD3"/>
                </a:solidFill>
                <a:latin typeface="Inter" pitchFamily="34" charset="0"/>
                <a:ea typeface="Inter" pitchFamily="34" charset="-122"/>
                <a:cs typeface="Inter" pitchFamily="34" charset="-120"/>
              </a:rPr>
              <a:t>NDBC buoys</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Open-Meteo marine</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NOAA tides</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10-min cache</a:t>
            </a:r>
            <a:endParaRPr lang="en-US" sz="1200" dirty="0"/>
          </a:p>
        </p:txBody>
      </p:sp>
      <p:sp>
        <p:nvSpPr>
          <p:cNvPr id="23" name="Shape 21"/>
          <p:cNvSpPr/>
          <p:nvPr/>
        </p:nvSpPr>
        <p:spPr>
          <a:xfrm>
            <a:off x="8915171" y="2651760"/>
            <a:ext cx="2545004" cy="1737360"/>
          </a:xfrm>
          <a:prstGeom prst="rect">
            <a:avLst/>
          </a:prstGeom>
          <a:solidFill>
            <a:srgbClr val="111317"/>
          </a:solidFill>
          <a:ln w="9525">
            <a:solidFill>
              <a:srgbClr val="24272E"/>
            </a:solidFill>
            <a:prstDash val="solid"/>
          </a:ln>
        </p:spPr>
      </p:sp>
      <p:sp>
        <p:nvSpPr>
          <p:cNvPr id="24" name="Shape 22"/>
          <p:cNvSpPr/>
          <p:nvPr/>
        </p:nvSpPr>
        <p:spPr>
          <a:xfrm>
            <a:off x="8915171" y="2651760"/>
            <a:ext cx="73152" cy="1737360"/>
          </a:xfrm>
          <a:prstGeom prst="rect">
            <a:avLst/>
          </a:prstGeom>
          <a:solidFill>
            <a:srgbClr val="F5A524"/>
          </a:solidFill>
          <a:ln/>
        </p:spPr>
      </p:sp>
      <p:sp>
        <p:nvSpPr>
          <p:cNvPr id="25" name="Text 23"/>
          <p:cNvSpPr/>
          <p:nvPr/>
        </p:nvSpPr>
        <p:spPr>
          <a:xfrm>
            <a:off x="9143771" y="2816352"/>
            <a:ext cx="2179244" cy="274320"/>
          </a:xfrm>
          <a:prstGeom prst="rect">
            <a:avLst/>
          </a:prstGeom>
          <a:noFill/>
          <a:ln/>
        </p:spPr>
        <p:txBody>
          <a:bodyPr wrap="square" lIns="0" tIns="0" rIns="0" bIns="0" rtlCol="0" anchor="ctr"/>
          <a:lstStyle/>
          <a:p>
            <a:pPr indent="0" marL="0">
              <a:buNone/>
            </a:pPr>
            <a:r>
              <a:rPr lang="en-US" sz="900" b="1" spc="300" kern="0" dirty="0">
                <a:solidFill>
                  <a:srgbClr val="F5A524"/>
                </a:solidFill>
                <a:latin typeface="JetBrains Mono" pitchFamily="34" charset="0"/>
                <a:ea typeface="JetBrains Mono" pitchFamily="34" charset="-122"/>
                <a:cs typeface="JetBrains Mono" pitchFamily="34" charset="-120"/>
              </a:rPr>
              <a:t>INFRASTRUCTURE</a:t>
            </a:r>
            <a:endParaRPr lang="en-US" sz="900" dirty="0"/>
          </a:p>
        </p:txBody>
      </p:sp>
      <p:sp>
        <p:nvSpPr>
          <p:cNvPr id="26" name="Text 24"/>
          <p:cNvSpPr/>
          <p:nvPr/>
        </p:nvSpPr>
        <p:spPr>
          <a:xfrm>
            <a:off x="9143771" y="3200400"/>
            <a:ext cx="2179244" cy="1097280"/>
          </a:xfrm>
          <a:prstGeom prst="rect">
            <a:avLst/>
          </a:prstGeom>
          <a:noFill/>
          <a:ln/>
        </p:spPr>
        <p:txBody>
          <a:bodyPr wrap="square" lIns="0" tIns="0" rIns="0" bIns="0" rtlCol="0" anchor="t"/>
          <a:lstStyle/>
          <a:p>
            <a:pPr indent="0" marL="0">
              <a:lnSpc>
                <a:spcPct val="140000"/>
              </a:lnSpc>
              <a:buNone/>
            </a:pPr>
            <a:r>
              <a:rPr lang="en-US" sz="1200" dirty="0">
                <a:solidFill>
                  <a:srgbClr val="C4CAD3"/>
                </a:solidFill>
                <a:latin typeface="Inter" pitchFamily="34" charset="0"/>
                <a:ea typeface="Inter" pitchFamily="34" charset="-122"/>
                <a:cs typeface="Inter" pitchFamily="34" charset="-120"/>
              </a:rPr>
              <a:t>Vercel hosting</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DreamHost email</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Let’s Encrypt</a:t>
            </a:r>
            <a:endParaRPr lang="en-US" sz="1200" dirty="0"/>
          </a:p>
          <a:p>
            <a:pPr indent="0" marL="0">
              <a:lnSpc>
                <a:spcPct val="140000"/>
              </a:lnSpc>
              <a:buNone/>
            </a:pPr>
            <a:r>
              <a:rPr lang="en-US" sz="1200" dirty="0">
                <a:solidFill>
                  <a:srgbClr val="C4CAD3"/>
                </a:solidFill>
                <a:latin typeface="Inter" pitchFamily="34" charset="0"/>
                <a:ea typeface="Inter" pitchFamily="34" charset="-122"/>
                <a:cs typeface="Inter" pitchFamily="34" charset="-120"/>
              </a:rPr>
              <a:t>$0 / month</a:t>
            </a:r>
            <a:endParaRPr lang="en-US" sz="1200" dirty="0"/>
          </a:p>
        </p:txBody>
      </p:sp>
      <p:sp>
        <p:nvSpPr>
          <p:cNvPr id="27" name="Shape 25"/>
          <p:cNvSpPr/>
          <p:nvPr/>
        </p:nvSpPr>
        <p:spPr>
          <a:xfrm>
            <a:off x="731520" y="4663440"/>
            <a:ext cx="10728655" cy="0"/>
          </a:xfrm>
          <a:prstGeom prst="line">
            <a:avLst/>
          </a:prstGeom>
          <a:noFill/>
          <a:ln w="9525">
            <a:solidFill>
              <a:srgbClr val="24272E"/>
            </a:solidFill>
            <a:prstDash val="solid"/>
          </a:ln>
        </p:spPr>
      </p:sp>
      <p:sp>
        <p:nvSpPr>
          <p:cNvPr id="28" name="Text 26"/>
          <p:cNvSpPr/>
          <p:nvPr/>
        </p:nvSpPr>
        <p:spPr>
          <a:xfrm>
            <a:off x="731520" y="4892040"/>
            <a:ext cx="1788109" cy="640080"/>
          </a:xfrm>
          <a:prstGeom prst="rect">
            <a:avLst/>
          </a:prstGeom>
          <a:noFill/>
          <a:ln/>
        </p:spPr>
        <p:txBody>
          <a:bodyPr wrap="square" lIns="0" tIns="0" rIns="0" bIns="0" rtlCol="0" anchor="t"/>
          <a:lstStyle/>
          <a:p>
            <a:pPr algn="ctr" indent="0" marL="0">
              <a:buNone/>
            </a:pPr>
            <a:r>
              <a:rPr lang="en-US" sz="3200" b="1" dirty="0">
                <a:solidFill>
                  <a:srgbClr val="2DD4BF"/>
                </a:solidFill>
                <a:latin typeface="JetBrains Mono" pitchFamily="34" charset="0"/>
                <a:ea typeface="JetBrains Mono" pitchFamily="34" charset="-122"/>
                <a:cs typeface="JetBrains Mono" pitchFamily="34" charset="-120"/>
              </a:rPr>
              <a:t>~4,100</a:t>
            </a:r>
            <a:endParaRPr lang="en-US" sz="3200" dirty="0"/>
          </a:p>
        </p:txBody>
      </p:sp>
      <p:sp>
        <p:nvSpPr>
          <p:cNvPr id="29" name="Text 27"/>
          <p:cNvSpPr/>
          <p:nvPr/>
        </p:nvSpPr>
        <p:spPr>
          <a:xfrm>
            <a:off x="731520" y="5623560"/>
            <a:ext cx="1788109" cy="274320"/>
          </a:xfrm>
          <a:prstGeom prst="rect">
            <a:avLst/>
          </a:prstGeom>
          <a:noFill/>
          <a:ln/>
        </p:spPr>
        <p:txBody>
          <a:bodyPr wrap="square" lIns="0" tIns="0" rIns="0" bIns="0" rtlCol="0" anchor="ctr"/>
          <a:lstStyle/>
          <a:p>
            <a:pPr algn="ctr" indent="0" marL="0">
              <a:buNone/>
            </a:pPr>
            <a:r>
              <a:rPr lang="en-US" sz="900" spc="300" kern="0" dirty="0">
                <a:solidFill>
                  <a:srgbClr val="AFB5BF"/>
                </a:solidFill>
                <a:latin typeface="JetBrains Mono" pitchFamily="34" charset="0"/>
                <a:ea typeface="JetBrains Mono" pitchFamily="34" charset="-122"/>
                <a:cs typeface="JetBrains Mono" pitchFamily="34" charset="-120"/>
              </a:rPr>
              <a:t>LINES TS</a:t>
            </a:r>
            <a:endParaRPr lang="en-US" sz="900" dirty="0"/>
          </a:p>
        </p:txBody>
      </p:sp>
      <p:sp>
        <p:nvSpPr>
          <p:cNvPr id="30" name="Text 28"/>
          <p:cNvSpPr/>
          <p:nvPr/>
        </p:nvSpPr>
        <p:spPr>
          <a:xfrm>
            <a:off x="2519629" y="4892040"/>
            <a:ext cx="1788109" cy="640080"/>
          </a:xfrm>
          <a:prstGeom prst="rect">
            <a:avLst/>
          </a:prstGeom>
          <a:noFill/>
          <a:ln/>
        </p:spPr>
        <p:txBody>
          <a:bodyPr wrap="square" lIns="0" tIns="0" rIns="0" bIns="0" rtlCol="0" anchor="t"/>
          <a:lstStyle/>
          <a:p>
            <a:pPr algn="ctr" indent="0" marL="0">
              <a:buNone/>
            </a:pPr>
            <a:r>
              <a:rPr lang="en-US" sz="3200" b="1" dirty="0">
                <a:solidFill>
                  <a:srgbClr val="2DD4BF"/>
                </a:solidFill>
                <a:latin typeface="JetBrains Mono" pitchFamily="34" charset="0"/>
                <a:ea typeface="JetBrains Mono" pitchFamily="34" charset="-122"/>
                <a:cs typeface="JetBrains Mono" pitchFamily="34" charset="-120"/>
              </a:rPr>
              <a:t>34</a:t>
            </a:r>
            <a:endParaRPr lang="en-US" sz="3200" dirty="0"/>
          </a:p>
        </p:txBody>
      </p:sp>
      <p:sp>
        <p:nvSpPr>
          <p:cNvPr id="31" name="Text 29"/>
          <p:cNvSpPr/>
          <p:nvPr/>
        </p:nvSpPr>
        <p:spPr>
          <a:xfrm>
            <a:off x="2519629" y="5623560"/>
            <a:ext cx="1788109" cy="274320"/>
          </a:xfrm>
          <a:prstGeom prst="rect">
            <a:avLst/>
          </a:prstGeom>
          <a:noFill/>
          <a:ln/>
        </p:spPr>
        <p:txBody>
          <a:bodyPr wrap="square" lIns="0" tIns="0" rIns="0" bIns="0" rtlCol="0" anchor="ctr"/>
          <a:lstStyle/>
          <a:p>
            <a:pPr algn="ctr" indent="0" marL="0">
              <a:buNone/>
            </a:pPr>
            <a:r>
              <a:rPr lang="en-US" sz="900" spc="300" kern="0" dirty="0">
                <a:solidFill>
                  <a:srgbClr val="AFB5BF"/>
                </a:solidFill>
                <a:latin typeface="JetBrains Mono" pitchFamily="34" charset="0"/>
                <a:ea typeface="JetBrains Mono" pitchFamily="34" charset="-122"/>
                <a:cs typeface="JetBrains Mono" pitchFamily="34" charset="-120"/>
              </a:rPr>
              <a:t>COMMITS</a:t>
            </a:r>
            <a:endParaRPr lang="en-US" sz="900" dirty="0"/>
          </a:p>
        </p:txBody>
      </p:sp>
      <p:sp>
        <p:nvSpPr>
          <p:cNvPr id="32" name="Text 30"/>
          <p:cNvSpPr/>
          <p:nvPr/>
        </p:nvSpPr>
        <p:spPr>
          <a:xfrm>
            <a:off x="4307738" y="4892040"/>
            <a:ext cx="1788109" cy="640080"/>
          </a:xfrm>
          <a:prstGeom prst="rect">
            <a:avLst/>
          </a:prstGeom>
          <a:noFill/>
          <a:ln/>
        </p:spPr>
        <p:txBody>
          <a:bodyPr wrap="square" lIns="0" tIns="0" rIns="0" bIns="0" rtlCol="0" anchor="t"/>
          <a:lstStyle/>
          <a:p>
            <a:pPr algn="ctr" indent="0" marL="0">
              <a:buNone/>
            </a:pPr>
            <a:r>
              <a:rPr lang="en-US" sz="3200" b="1" dirty="0">
                <a:solidFill>
                  <a:srgbClr val="2DD4BF"/>
                </a:solidFill>
                <a:latin typeface="JetBrains Mono" pitchFamily="34" charset="0"/>
                <a:ea typeface="JetBrains Mono" pitchFamily="34" charset="-122"/>
                <a:cs typeface="JetBrains Mono" pitchFamily="34" charset="-120"/>
              </a:rPr>
              <a:t>28</a:t>
            </a:r>
            <a:endParaRPr lang="en-US" sz="3200" dirty="0"/>
          </a:p>
        </p:txBody>
      </p:sp>
      <p:sp>
        <p:nvSpPr>
          <p:cNvPr id="33" name="Text 31"/>
          <p:cNvSpPr/>
          <p:nvPr/>
        </p:nvSpPr>
        <p:spPr>
          <a:xfrm>
            <a:off x="4307738" y="5623560"/>
            <a:ext cx="1788109" cy="274320"/>
          </a:xfrm>
          <a:prstGeom prst="rect">
            <a:avLst/>
          </a:prstGeom>
          <a:noFill/>
          <a:ln/>
        </p:spPr>
        <p:txBody>
          <a:bodyPr wrap="square" lIns="0" tIns="0" rIns="0" bIns="0" rtlCol="0" anchor="ctr"/>
          <a:lstStyle/>
          <a:p>
            <a:pPr algn="ctr" indent="0" marL="0">
              <a:buNone/>
            </a:pPr>
            <a:r>
              <a:rPr lang="en-US" sz="900" spc="300" kern="0" dirty="0">
                <a:solidFill>
                  <a:srgbClr val="AFB5BF"/>
                </a:solidFill>
                <a:latin typeface="JetBrains Mono" pitchFamily="34" charset="0"/>
                <a:ea typeface="JetBrains Mono" pitchFamily="34" charset="-122"/>
                <a:cs typeface="JetBrains Mono" pitchFamily="34" charset="-120"/>
              </a:rPr>
              <a:t>SPOTS</a:t>
            </a:r>
            <a:endParaRPr lang="en-US" sz="900" dirty="0"/>
          </a:p>
        </p:txBody>
      </p:sp>
      <p:sp>
        <p:nvSpPr>
          <p:cNvPr id="34" name="Text 32"/>
          <p:cNvSpPr/>
          <p:nvPr/>
        </p:nvSpPr>
        <p:spPr>
          <a:xfrm>
            <a:off x="6095848" y="4892040"/>
            <a:ext cx="1788109" cy="640080"/>
          </a:xfrm>
          <a:prstGeom prst="rect">
            <a:avLst/>
          </a:prstGeom>
          <a:noFill/>
          <a:ln/>
        </p:spPr>
        <p:txBody>
          <a:bodyPr wrap="square" lIns="0" tIns="0" rIns="0" bIns="0" rtlCol="0" anchor="t"/>
          <a:lstStyle/>
          <a:p>
            <a:pPr algn="ctr" indent="0" marL="0">
              <a:buNone/>
            </a:pPr>
            <a:r>
              <a:rPr lang="en-US" sz="3200" b="1" dirty="0">
                <a:solidFill>
                  <a:srgbClr val="2DD4BF"/>
                </a:solidFill>
                <a:latin typeface="JetBrains Mono" pitchFamily="34" charset="0"/>
                <a:ea typeface="JetBrains Mono" pitchFamily="34" charset="-122"/>
                <a:cs typeface="JetBrains Mono" pitchFamily="34" charset="-120"/>
              </a:rPr>
              <a:t>48h</a:t>
            </a:r>
            <a:endParaRPr lang="en-US" sz="3200" dirty="0"/>
          </a:p>
        </p:txBody>
      </p:sp>
      <p:sp>
        <p:nvSpPr>
          <p:cNvPr id="35" name="Text 33"/>
          <p:cNvSpPr/>
          <p:nvPr/>
        </p:nvSpPr>
        <p:spPr>
          <a:xfrm>
            <a:off x="6095848" y="5623560"/>
            <a:ext cx="1788109" cy="274320"/>
          </a:xfrm>
          <a:prstGeom prst="rect">
            <a:avLst/>
          </a:prstGeom>
          <a:noFill/>
          <a:ln/>
        </p:spPr>
        <p:txBody>
          <a:bodyPr wrap="square" lIns="0" tIns="0" rIns="0" bIns="0" rtlCol="0" anchor="ctr"/>
          <a:lstStyle/>
          <a:p>
            <a:pPr algn="ctr" indent="0" marL="0">
              <a:buNone/>
            </a:pPr>
            <a:r>
              <a:rPr lang="en-US" sz="900" spc="300" kern="0" dirty="0">
                <a:solidFill>
                  <a:srgbClr val="AFB5BF"/>
                </a:solidFill>
                <a:latin typeface="JetBrains Mono" pitchFamily="34" charset="0"/>
                <a:ea typeface="JetBrains Mono" pitchFamily="34" charset="-122"/>
                <a:cs typeface="JetBrains Mono" pitchFamily="34" charset="-120"/>
              </a:rPr>
              <a:t>FORECAST</a:t>
            </a:r>
            <a:endParaRPr lang="en-US" sz="900" dirty="0"/>
          </a:p>
        </p:txBody>
      </p:sp>
      <p:sp>
        <p:nvSpPr>
          <p:cNvPr id="36" name="Text 34"/>
          <p:cNvSpPr/>
          <p:nvPr/>
        </p:nvSpPr>
        <p:spPr>
          <a:xfrm>
            <a:off x="7883957" y="4892040"/>
            <a:ext cx="1788109" cy="640080"/>
          </a:xfrm>
          <a:prstGeom prst="rect">
            <a:avLst/>
          </a:prstGeom>
          <a:noFill/>
          <a:ln/>
        </p:spPr>
        <p:txBody>
          <a:bodyPr wrap="square" lIns="0" tIns="0" rIns="0" bIns="0" rtlCol="0" anchor="t"/>
          <a:lstStyle/>
          <a:p>
            <a:pPr algn="ctr" indent="0" marL="0">
              <a:buNone/>
            </a:pPr>
            <a:r>
              <a:rPr lang="en-US" sz="3200" b="1" dirty="0">
                <a:solidFill>
                  <a:srgbClr val="2DD4BF"/>
                </a:solidFill>
                <a:latin typeface="JetBrains Mono" pitchFamily="34" charset="0"/>
                <a:ea typeface="JetBrains Mono" pitchFamily="34" charset="-122"/>
                <a:cs typeface="JetBrains Mono" pitchFamily="34" charset="-120"/>
              </a:rPr>
              <a:t>0</a:t>
            </a:r>
            <a:endParaRPr lang="en-US" sz="3200" dirty="0"/>
          </a:p>
        </p:txBody>
      </p:sp>
      <p:sp>
        <p:nvSpPr>
          <p:cNvPr id="37" name="Text 35"/>
          <p:cNvSpPr/>
          <p:nvPr/>
        </p:nvSpPr>
        <p:spPr>
          <a:xfrm>
            <a:off x="7883957" y="5623560"/>
            <a:ext cx="1788109" cy="274320"/>
          </a:xfrm>
          <a:prstGeom prst="rect">
            <a:avLst/>
          </a:prstGeom>
          <a:noFill/>
          <a:ln/>
        </p:spPr>
        <p:txBody>
          <a:bodyPr wrap="square" lIns="0" tIns="0" rIns="0" bIns="0" rtlCol="0" anchor="ctr"/>
          <a:lstStyle/>
          <a:p>
            <a:pPr algn="ctr" indent="0" marL="0">
              <a:buNone/>
            </a:pPr>
            <a:r>
              <a:rPr lang="en-US" sz="900" spc="300" kern="0" dirty="0">
                <a:solidFill>
                  <a:srgbClr val="AFB5BF"/>
                </a:solidFill>
                <a:latin typeface="JetBrains Mono" pitchFamily="34" charset="0"/>
                <a:ea typeface="JetBrains Mono" pitchFamily="34" charset="-122"/>
                <a:cs typeface="JetBrains Mono" pitchFamily="34" charset="-120"/>
              </a:rPr>
              <a:t>3rd-party JS</a:t>
            </a:r>
            <a:endParaRPr lang="en-US" sz="900" dirty="0"/>
          </a:p>
        </p:txBody>
      </p:sp>
      <p:sp>
        <p:nvSpPr>
          <p:cNvPr id="38" name="Text 36"/>
          <p:cNvSpPr/>
          <p:nvPr/>
        </p:nvSpPr>
        <p:spPr>
          <a:xfrm>
            <a:off x="9672066" y="4892040"/>
            <a:ext cx="1788109" cy="640080"/>
          </a:xfrm>
          <a:prstGeom prst="rect">
            <a:avLst/>
          </a:prstGeom>
          <a:noFill/>
          <a:ln/>
        </p:spPr>
        <p:txBody>
          <a:bodyPr wrap="square" lIns="0" tIns="0" rIns="0" bIns="0" rtlCol="0" anchor="t"/>
          <a:lstStyle/>
          <a:p>
            <a:pPr algn="ctr" indent="0" marL="0">
              <a:buNone/>
            </a:pPr>
            <a:r>
              <a:rPr lang="en-US" sz="3200" b="1" dirty="0">
                <a:solidFill>
                  <a:srgbClr val="2DD4BF"/>
                </a:solidFill>
                <a:latin typeface="JetBrains Mono" pitchFamily="34" charset="0"/>
                <a:ea typeface="JetBrains Mono" pitchFamily="34" charset="-122"/>
                <a:cs typeface="JetBrains Mono" pitchFamily="34" charset="-120"/>
              </a:rPr>
              <a:t>$0</a:t>
            </a:r>
            <a:endParaRPr lang="en-US" sz="3200" dirty="0"/>
          </a:p>
        </p:txBody>
      </p:sp>
      <p:sp>
        <p:nvSpPr>
          <p:cNvPr id="39" name="Text 37"/>
          <p:cNvSpPr/>
          <p:nvPr/>
        </p:nvSpPr>
        <p:spPr>
          <a:xfrm>
            <a:off x="9672066" y="5623560"/>
            <a:ext cx="1788109" cy="274320"/>
          </a:xfrm>
          <a:prstGeom prst="rect">
            <a:avLst/>
          </a:prstGeom>
          <a:noFill/>
          <a:ln/>
        </p:spPr>
        <p:txBody>
          <a:bodyPr wrap="square" lIns="0" tIns="0" rIns="0" bIns="0" rtlCol="0" anchor="ctr"/>
          <a:lstStyle/>
          <a:p>
            <a:pPr algn="ctr" indent="0" marL="0">
              <a:buNone/>
            </a:pPr>
            <a:r>
              <a:rPr lang="en-US" sz="900" spc="300" kern="0" dirty="0">
                <a:solidFill>
                  <a:srgbClr val="AFB5BF"/>
                </a:solidFill>
                <a:latin typeface="JetBrains Mono" pitchFamily="34" charset="0"/>
                <a:ea typeface="JetBrains Mono" pitchFamily="34" charset="-122"/>
                <a:cs typeface="JetBrains Mono" pitchFamily="34" charset="-120"/>
              </a:rPr>
              <a:t>HOSTING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31520" y="320040"/>
            <a:ext cx="2743200" cy="274320"/>
          </a:xfrm>
          <a:prstGeom prst="rect">
            <a:avLst/>
          </a:prstGeom>
          <a:noFill/>
          <a:ln/>
        </p:spPr>
        <p:txBody>
          <a:bodyPr wrap="square" lIns="0" tIns="0" rIns="0" bIns="0" rtlCol="0" anchor="ctr"/>
          <a:lstStyle/>
          <a:p>
            <a:pPr indent="0" marL="0">
              <a:buNone/>
            </a:pPr>
            <a:r>
              <a:rPr lang="en-US" sz="1000" spc="400" kern="0" dirty="0">
                <a:solidFill>
                  <a:srgbClr val="AFB5BF"/>
                </a:solidFill>
                <a:latin typeface="JetBrains Mono" pitchFamily="34" charset="0"/>
                <a:ea typeface="JetBrains Mono" pitchFamily="34" charset="-122"/>
                <a:cs typeface="JetBrains Mono" pitchFamily="34" charset="-120"/>
              </a:rPr>
              <a:t>SURF VIKINGS</a:t>
            </a:r>
            <a:endParaRPr lang="en-US" sz="1000" dirty="0"/>
          </a:p>
        </p:txBody>
      </p:sp>
      <p:sp>
        <p:nvSpPr>
          <p:cNvPr id="3" name="Shape 1"/>
          <p:cNvSpPr/>
          <p:nvPr/>
        </p:nvSpPr>
        <p:spPr>
          <a:xfrm>
            <a:off x="530352" y="384048"/>
            <a:ext cx="64008" cy="64008"/>
          </a:xfrm>
          <a:prstGeom prst="ellipse">
            <a:avLst/>
          </a:prstGeom>
          <a:solidFill>
            <a:srgbClr val="2DD4BF"/>
          </a:solidFill>
          <a:ln/>
        </p:spPr>
      </p:sp>
      <p:sp>
        <p:nvSpPr>
          <p:cNvPr id="4" name="Text 2"/>
          <p:cNvSpPr/>
          <p:nvPr/>
        </p:nvSpPr>
        <p:spPr>
          <a:xfrm>
            <a:off x="8716975" y="320040"/>
            <a:ext cx="2743200" cy="274320"/>
          </a:xfrm>
          <a:prstGeom prst="rect">
            <a:avLst/>
          </a:prstGeom>
          <a:noFill/>
          <a:ln/>
        </p:spPr>
        <p:txBody>
          <a:bodyPr wrap="square" lIns="0" tIns="0" rIns="0" bIns="0" rtlCol="0" anchor="ctr"/>
          <a:lstStyle/>
          <a:p>
            <a:pPr algn="r" indent="0" marL="0">
              <a:buNone/>
            </a:pPr>
            <a:r>
              <a:rPr lang="en-US" sz="1000" spc="400" kern="0" dirty="0">
                <a:solidFill>
                  <a:srgbClr val="AFB5BF"/>
                </a:solidFill>
                <a:latin typeface="JetBrains Mono" pitchFamily="34" charset="0"/>
                <a:ea typeface="JetBrains Mono" pitchFamily="34" charset="-122"/>
                <a:cs typeface="JetBrains Mono" pitchFamily="34" charset="-120"/>
              </a:rPr>
              <a:t>PORTFOLIO CASE STUDY</a:t>
            </a:r>
            <a:endParaRPr lang="en-US" sz="1000" dirty="0"/>
          </a:p>
        </p:txBody>
      </p:sp>
      <p:sp>
        <p:nvSpPr>
          <p:cNvPr id="5" name="Shape 3"/>
          <p:cNvSpPr/>
          <p:nvPr/>
        </p:nvSpPr>
        <p:spPr>
          <a:xfrm>
            <a:off x="731520" y="731520"/>
            <a:ext cx="10728655" cy="0"/>
          </a:xfrm>
          <a:prstGeom prst="line">
            <a:avLst/>
          </a:prstGeom>
          <a:noFill/>
          <a:ln w="9525">
            <a:solidFill>
              <a:srgbClr val="24272E"/>
            </a:solidFill>
            <a:prstDash val="solid"/>
          </a:ln>
        </p:spPr>
      </p:sp>
      <p:sp>
        <p:nvSpPr>
          <p:cNvPr id="6" name="Shape 4"/>
          <p:cNvSpPr/>
          <p:nvPr/>
        </p:nvSpPr>
        <p:spPr>
          <a:xfrm>
            <a:off x="731520" y="6172200"/>
            <a:ext cx="10728655" cy="0"/>
          </a:xfrm>
          <a:prstGeom prst="line">
            <a:avLst/>
          </a:prstGeom>
          <a:noFill/>
          <a:ln w="9525">
            <a:solidFill>
              <a:srgbClr val="24272E"/>
            </a:solidFill>
            <a:prstDash val="solid"/>
          </a:ln>
        </p:spPr>
      </p:sp>
      <p:sp>
        <p:nvSpPr>
          <p:cNvPr id="7" name="Text 5"/>
          <p:cNvSpPr/>
          <p:nvPr/>
        </p:nvSpPr>
        <p:spPr>
          <a:xfrm>
            <a:off x="9631375" y="6309360"/>
            <a:ext cx="1828800" cy="274320"/>
          </a:xfrm>
          <a:prstGeom prst="rect">
            <a:avLst/>
          </a:prstGeom>
          <a:noFill/>
          <a:ln/>
        </p:spPr>
        <p:txBody>
          <a:bodyPr wrap="square" lIns="0" tIns="0" rIns="0" bIns="0" rtlCol="0" anchor="ctr"/>
          <a:lstStyle/>
          <a:p>
            <a:pPr algn="r" indent="0" marL="0">
              <a:buNone/>
            </a:pPr>
            <a:r>
              <a:rPr lang="en-US" sz="1000" spc="200" kern="0" dirty="0">
                <a:solidFill>
                  <a:srgbClr val="AFB5BF"/>
                </a:solidFill>
                <a:latin typeface="JetBrains Mono" pitchFamily="34" charset="0"/>
                <a:ea typeface="JetBrains Mono" pitchFamily="34" charset="-122"/>
                <a:cs typeface="JetBrains Mono" pitchFamily="34" charset="-120"/>
              </a:rPr>
              <a:t>14 / 14</a:t>
            </a:r>
            <a:endParaRPr lang="en-US" sz="1000" dirty="0"/>
          </a:p>
        </p:txBody>
      </p:sp>
      <p:sp>
        <p:nvSpPr>
          <p:cNvPr id="8" name="Text 6"/>
          <p:cNvSpPr/>
          <p:nvPr/>
        </p:nvSpPr>
        <p:spPr>
          <a:xfrm>
            <a:off x="731520" y="6309360"/>
            <a:ext cx="3657600" cy="274320"/>
          </a:xfrm>
          <a:prstGeom prst="rect">
            <a:avLst/>
          </a:prstGeom>
          <a:noFill/>
          <a:ln/>
        </p:spPr>
        <p:txBody>
          <a:bodyPr wrap="square" lIns="0" tIns="0" rIns="0" bIns="0" rtlCol="0" anchor="ctr"/>
          <a:lstStyle/>
          <a:p>
            <a:pPr indent="0" marL="0">
              <a:buNone/>
            </a:pPr>
            <a:r>
              <a:rPr lang="en-US" sz="1000" spc="200" kern="0" dirty="0">
                <a:solidFill>
                  <a:srgbClr val="AFB5BF"/>
                </a:solidFill>
                <a:latin typeface="JetBrains Mono" pitchFamily="34" charset="0"/>
                <a:ea typeface="JetBrains Mono" pitchFamily="34" charset="-122"/>
                <a:cs typeface="JetBrains Mono" pitchFamily="34" charset="-120"/>
              </a:rPr>
              <a:t>surfvikings.com</a:t>
            </a:r>
            <a:endParaRPr lang="en-US" sz="1000" dirty="0"/>
          </a:p>
        </p:txBody>
      </p:sp>
      <p:sp>
        <p:nvSpPr>
          <p:cNvPr id="9" name="Text 7"/>
          <p:cNvSpPr/>
          <p:nvPr/>
        </p:nvSpPr>
        <p:spPr>
          <a:xfrm>
            <a:off x="731520" y="1005840"/>
            <a:ext cx="4572000" cy="274320"/>
          </a:xfrm>
          <a:prstGeom prst="rect">
            <a:avLst/>
          </a:prstGeom>
          <a:noFill/>
          <a:ln/>
        </p:spPr>
        <p:txBody>
          <a:bodyPr wrap="square" lIns="0" tIns="0" rIns="0" bIns="0" rtlCol="0" anchor="ctr"/>
          <a:lstStyle/>
          <a:p>
            <a:pPr algn="l" indent="0" marL="0">
              <a:buNone/>
            </a:pPr>
            <a:r>
              <a:rPr lang="en-US" sz="1000" spc="300" kern="0" dirty="0">
                <a:solidFill>
                  <a:srgbClr val="2DD4BF"/>
                </a:solidFill>
                <a:latin typeface="JetBrains Mono" pitchFamily="34" charset="0"/>
                <a:ea typeface="JetBrains Mono" pitchFamily="34" charset="-122"/>
                <a:cs typeface="JetBrains Mono" pitchFamily="34" charset="-120"/>
              </a:rPr>
              <a:t>CLOSER · LIVE</a:t>
            </a:r>
            <a:endParaRPr lang="en-US" sz="1000" dirty="0"/>
          </a:p>
        </p:txBody>
      </p:sp>
      <p:sp>
        <p:nvSpPr>
          <p:cNvPr id="10" name="Text 8"/>
          <p:cNvSpPr/>
          <p:nvPr/>
        </p:nvSpPr>
        <p:spPr>
          <a:xfrm>
            <a:off x="731520" y="1554480"/>
            <a:ext cx="10728655" cy="3291840"/>
          </a:xfrm>
          <a:prstGeom prst="rect">
            <a:avLst/>
          </a:prstGeom>
          <a:noFill/>
          <a:ln/>
        </p:spPr>
        <p:txBody>
          <a:bodyPr wrap="square" lIns="0" tIns="0" rIns="0" bIns="0" rtlCol="0" anchor="t"/>
          <a:lstStyle/>
          <a:p>
            <a:pPr indent="0" marL="0">
              <a:lnSpc>
                <a:spcPct val="130000"/>
              </a:lnSpc>
              <a:buNone/>
            </a:pPr>
            <a:r>
              <a:rPr lang="en-US" sz="2200" b="1" spc="-50" kern="0" dirty="0">
                <a:solidFill>
                  <a:srgbClr val="F2F4F7"/>
                </a:solidFill>
                <a:latin typeface="Inter" pitchFamily="34" charset="0"/>
                <a:ea typeface="Inter" pitchFamily="34" charset="-122"/>
                <a:cs typeface="Inter" pitchFamily="34" charset="-120"/>
              </a:rPr>
              <a:t>Surf Vikings is a hyper-local NorCal surf forecasting PWA I designed, engineered, and shipped solo. </a:t>
            </a:r>
            <a:pPr indent="0" marL="0">
              <a:lnSpc>
                <a:spcPct val="130000"/>
              </a:lnSpc>
              <a:buNone/>
            </a:pPr>
            <a:r>
              <a:rPr lang="en-US" sz="2200" b="1" spc="-50" kern="0" dirty="0">
                <a:solidFill>
                  <a:srgbClr val="2DD4BF"/>
                </a:solidFill>
                <a:latin typeface="Inter" pitchFamily="34" charset="0"/>
                <a:ea typeface="Inter" pitchFamily="34" charset="-122"/>
                <a:cs typeface="Inter" pitchFamily="34" charset="-120"/>
              </a:rPr>
              <a:t>Scored 28 breaks across 150 miles of coast hour-by-hour on free public NOAA data.</a:t>
            </a:r>
            <a:pPr indent="0" marL="0">
              <a:lnSpc>
                <a:spcPct val="130000"/>
              </a:lnSpc>
              <a:buNone/>
            </a:pPr>
            <a:r>
              <a:rPr lang="en-US" sz="2200" b="1" spc="-50" kern="0" dirty="0">
                <a:solidFill>
                  <a:srgbClr val="F2F4F7"/>
                </a:solidFill>
                <a:latin typeface="Inter" pitchFamily="34" charset="0"/>
                <a:ea typeface="Inter" pitchFamily="34" charset="-122"/>
                <a:cs typeface="Inter" pitchFamily="34" charset="-120"/>
              </a:rPr>
              <a:t> Shipped on a custom domain with zero-downtime migration, an installable PWA, a Printful-backed merch store with a custom Cloudflare-bypass scraper, and a personalized dashboard that works identically in browser, home-screen PWA, and in-app WebView.</a:t>
            </a:r>
            <a:endParaRPr lang="en-US" sz="2200" dirty="0"/>
          </a:p>
        </p:txBody>
      </p:sp>
      <p:sp>
        <p:nvSpPr>
          <p:cNvPr id="11" name="Shape 9"/>
          <p:cNvSpPr/>
          <p:nvPr/>
        </p:nvSpPr>
        <p:spPr>
          <a:xfrm>
            <a:off x="731520" y="5029200"/>
            <a:ext cx="10728655" cy="0"/>
          </a:xfrm>
          <a:prstGeom prst="line">
            <a:avLst/>
          </a:prstGeom>
          <a:noFill/>
          <a:ln w="9525">
            <a:solidFill>
              <a:srgbClr val="24272E"/>
            </a:solidFill>
            <a:prstDash val="solid"/>
          </a:ln>
        </p:spPr>
      </p:sp>
      <p:sp>
        <p:nvSpPr>
          <p:cNvPr id="12" name="Text 10"/>
          <p:cNvSpPr/>
          <p:nvPr/>
        </p:nvSpPr>
        <p:spPr>
          <a:xfrm>
            <a:off x="731520" y="5212080"/>
            <a:ext cx="3576218" cy="274320"/>
          </a:xfrm>
          <a:prstGeom prst="rect">
            <a:avLst/>
          </a:prstGeom>
          <a:noFill/>
          <a:ln/>
        </p:spPr>
        <p:txBody>
          <a:bodyPr wrap="square" lIns="0" tIns="0" rIns="0" bIns="0" rtlCol="0" anchor="ctr"/>
          <a:lstStyle/>
          <a:p>
            <a:pPr indent="0" marL="0">
              <a:buNone/>
            </a:pPr>
            <a:r>
              <a:rPr lang="en-US" sz="1000" spc="300" kern="0" dirty="0">
                <a:solidFill>
                  <a:srgbClr val="AFB5BF"/>
                </a:solidFill>
                <a:latin typeface="JetBrains Mono" pitchFamily="34" charset="0"/>
                <a:ea typeface="JetBrains Mono" pitchFamily="34" charset="-122"/>
                <a:cs typeface="JetBrains Mono" pitchFamily="34" charset="-120"/>
              </a:rPr>
              <a:t>LIVE</a:t>
            </a:r>
            <a:endParaRPr lang="en-US" sz="1000" dirty="0"/>
          </a:p>
        </p:txBody>
      </p:sp>
      <p:sp>
        <p:nvSpPr>
          <p:cNvPr id="13" name="Text 11"/>
          <p:cNvSpPr/>
          <p:nvPr/>
        </p:nvSpPr>
        <p:spPr>
          <a:xfrm>
            <a:off x="731520" y="5486400"/>
            <a:ext cx="3576218" cy="365760"/>
          </a:xfrm>
          <a:prstGeom prst="rect">
            <a:avLst/>
          </a:prstGeom>
          <a:noFill/>
          <a:ln/>
        </p:spPr>
        <p:txBody>
          <a:bodyPr wrap="square" lIns="0" tIns="0" rIns="0" bIns="0" rtlCol="0" anchor="t"/>
          <a:lstStyle/>
          <a:p>
            <a:pPr indent="0" marL="0">
              <a:buNone/>
            </a:pPr>
            <a:r>
              <a:rPr lang="en-US" sz="1400" b="1" spc="100" kern="0" dirty="0">
                <a:solidFill>
                  <a:srgbClr val="2DD4BF"/>
                </a:solidFill>
                <a:latin typeface="JetBrains Mono" pitchFamily="34" charset="0"/>
                <a:ea typeface="JetBrains Mono" pitchFamily="34" charset="-122"/>
                <a:cs typeface="JetBrains Mono" pitchFamily="34" charset="-120"/>
              </a:rPr>
              <a:t>surfvikings.com</a:t>
            </a:r>
            <a:endParaRPr lang="en-US" sz="1400" dirty="0"/>
          </a:p>
        </p:txBody>
      </p:sp>
      <p:sp>
        <p:nvSpPr>
          <p:cNvPr id="14" name="Text 12"/>
          <p:cNvSpPr/>
          <p:nvPr/>
        </p:nvSpPr>
        <p:spPr>
          <a:xfrm>
            <a:off x="4307738" y="5212080"/>
            <a:ext cx="3576218" cy="274320"/>
          </a:xfrm>
          <a:prstGeom prst="rect">
            <a:avLst/>
          </a:prstGeom>
          <a:noFill/>
          <a:ln/>
        </p:spPr>
        <p:txBody>
          <a:bodyPr wrap="square" lIns="0" tIns="0" rIns="0" bIns="0" rtlCol="0" anchor="ctr"/>
          <a:lstStyle/>
          <a:p>
            <a:pPr indent="0" marL="0">
              <a:buNone/>
            </a:pPr>
            <a:r>
              <a:rPr lang="en-US" sz="1000" spc="300" kern="0" dirty="0">
                <a:solidFill>
                  <a:srgbClr val="AFB5BF"/>
                </a:solidFill>
                <a:latin typeface="JetBrains Mono" pitchFamily="34" charset="0"/>
                <a:ea typeface="JetBrains Mono" pitchFamily="34" charset="-122"/>
                <a:cs typeface="JetBrains Mono" pitchFamily="34" charset="-120"/>
              </a:rPr>
              <a:t>REPO</a:t>
            </a:r>
            <a:endParaRPr lang="en-US" sz="1000" dirty="0"/>
          </a:p>
        </p:txBody>
      </p:sp>
      <p:sp>
        <p:nvSpPr>
          <p:cNvPr id="15" name="Text 13"/>
          <p:cNvSpPr/>
          <p:nvPr/>
        </p:nvSpPr>
        <p:spPr>
          <a:xfrm>
            <a:off x="4307738" y="5486400"/>
            <a:ext cx="3576218" cy="365760"/>
          </a:xfrm>
          <a:prstGeom prst="rect">
            <a:avLst/>
          </a:prstGeom>
          <a:noFill/>
          <a:ln/>
        </p:spPr>
        <p:txBody>
          <a:bodyPr wrap="square" lIns="0" tIns="0" rIns="0" bIns="0" rtlCol="0" anchor="t"/>
          <a:lstStyle/>
          <a:p>
            <a:pPr indent="0" marL="0">
              <a:buNone/>
            </a:pPr>
            <a:r>
              <a:rPr lang="en-US" sz="1400" b="1" spc="100" kern="0" dirty="0">
                <a:solidFill>
                  <a:srgbClr val="2DD4BF"/>
                </a:solidFill>
                <a:latin typeface="JetBrains Mono" pitchFamily="34" charset="0"/>
                <a:ea typeface="JetBrains Mono" pitchFamily="34" charset="-122"/>
                <a:cs typeface="JetBrains Mono" pitchFamily="34" charset="-120"/>
              </a:rPr>
              <a:t>github.com/elieljohnson/surfvikings</a:t>
            </a:r>
            <a:endParaRPr lang="en-US" sz="1400" dirty="0"/>
          </a:p>
        </p:txBody>
      </p:sp>
      <p:sp>
        <p:nvSpPr>
          <p:cNvPr id="16" name="Text 14"/>
          <p:cNvSpPr/>
          <p:nvPr/>
        </p:nvSpPr>
        <p:spPr>
          <a:xfrm>
            <a:off x="7883957" y="5212080"/>
            <a:ext cx="3576218" cy="274320"/>
          </a:xfrm>
          <a:prstGeom prst="rect">
            <a:avLst/>
          </a:prstGeom>
          <a:noFill/>
          <a:ln/>
        </p:spPr>
        <p:txBody>
          <a:bodyPr wrap="square" lIns="0" tIns="0" rIns="0" bIns="0" rtlCol="0" anchor="ctr"/>
          <a:lstStyle/>
          <a:p>
            <a:pPr indent="0" marL="0">
              <a:buNone/>
            </a:pPr>
            <a:r>
              <a:rPr lang="en-US" sz="1000" spc="300" kern="0" dirty="0">
                <a:solidFill>
                  <a:srgbClr val="AFB5BF"/>
                </a:solidFill>
                <a:latin typeface="JetBrains Mono" pitchFamily="34" charset="0"/>
                <a:ea typeface="JetBrains Mono" pitchFamily="34" charset="-122"/>
                <a:cs typeface="JetBrains Mono" pitchFamily="34" charset="-120"/>
              </a:rPr>
              <a:t>CONTACT</a:t>
            </a:r>
            <a:endParaRPr lang="en-US" sz="1000" dirty="0"/>
          </a:p>
        </p:txBody>
      </p:sp>
      <p:sp>
        <p:nvSpPr>
          <p:cNvPr id="17" name="Text 15"/>
          <p:cNvSpPr/>
          <p:nvPr/>
        </p:nvSpPr>
        <p:spPr>
          <a:xfrm>
            <a:off x="7883957" y="5486400"/>
            <a:ext cx="3576218" cy="365760"/>
          </a:xfrm>
          <a:prstGeom prst="rect">
            <a:avLst/>
          </a:prstGeom>
          <a:noFill/>
          <a:ln/>
        </p:spPr>
        <p:txBody>
          <a:bodyPr wrap="square" lIns="0" tIns="0" rIns="0" bIns="0" rtlCol="0" anchor="t"/>
          <a:lstStyle/>
          <a:p>
            <a:pPr indent="0" marL="0">
              <a:buNone/>
            </a:pPr>
            <a:r>
              <a:rPr lang="en-US" sz="1400" b="1" spc="100" kern="0" dirty="0">
                <a:solidFill>
                  <a:srgbClr val="2DD4BF"/>
                </a:solidFill>
                <a:latin typeface="JetBrains Mono" pitchFamily="34" charset="0"/>
                <a:ea typeface="JetBrains Mono" pitchFamily="34" charset="-122"/>
                <a:cs typeface="JetBrains Mono" pitchFamily="34" charset="-120"/>
              </a:rPr>
              <a:t>eliel.johnson@gmail.com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Surf Vikings — Portfolio Case Study</dc:title>
  <dc:subject>Hyper-local NorCal surf forecasting PWA</dc:subject>
  <dc:creator>Eliel Johnson</dc:creator>
  <cp:lastModifiedBy>Eliel Johnson</cp:lastModifiedBy>
  <cp:revision>1</cp:revision>
  <dcterms:created xsi:type="dcterms:W3CDTF">2026-04-24T16:14:18Z</dcterms:created>
  <dcterms:modified xsi:type="dcterms:W3CDTF">2026-04-24T16:14:18Z</dcterms:modified>
</cp:coreProperties>
</file>